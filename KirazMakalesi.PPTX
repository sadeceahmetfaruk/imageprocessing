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56" r:id="rId2"/>
    <p:sldId id="257" r:id="rId3"/>
    <p:sldId id="258" r:id="rId4"/>
    <p:sldId id="259" r:id="rId5"/>
    <p:sldId id="260" r:id="rId6"/>
    <p:sldId id="268" r:id="rId7"/>
    <p:sldId id="261" r:id="rId8"/>
    <p:sldId id="262" r:id="rId9"/>
    <p:sldId id="263" r:id="rId10"/>
    <p:sldId id="264" r:id="rId11"/>
    <p:sldId id="265" r:id="rId12"/>
    <p:sldId id="267" r:id="rId13"/>
    <p:sldId id="266"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7" d="100"/>
          <a:sy n="87" d="100"/>
        </p:scale>
        <p:origin x="326"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Başlık Slaydı">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tr-TR"/>
              <a:t>Asıl başlık stilini düzenlemek için tıklayın</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tr-TR"/>
              <a:t>Asıl alt başlık stilini düzenlemek için tıklayın</a:t>
            </a:r>
            <a:endParaRPr lang="en-US" dirty="0"/>
          </a:p>
        </p:txBody>
      </p:sp>
      <p:sp>
        <p:nvSpPr>
          <p:cNvPr id="4" name="Date Placeholder 3"/>
          <p:cNvSpPr>
            <a:spLocks noGrp="1"/>
          </p:cNvSpPr>
          <p:nvPr>
            <p:ph type="dt" sz="half" idx="10"/>
          </p:nvPr>
        </p:nvSpPr>
        <p:spPr/>
        <p:txBody>
          <a:bodyPr/>
          <a:lstStyle/>
          <a:p>
            <a:fld id="{D37E0C47-EAC8-46CB-86A0-22851749A34D}" type="datetimeFigureOut">
              <a:rPr lang="tr-TR" smtClean="0"/>
              <a:t>16.11.2022</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5D459372-7631-45F4-B201-8DA690E3384E}" type="slidenum">
              <a:rPr lang="tr-TR" smtClean="0"/>
              <a:t>‹#›</a:t>
            </a:fld>
            <a:endParaRPr lang="tr-TR"/>
          </a:p>
        </p:txBody>
      </p:sp>
    </p:spTree>
    <p:extLst>
      <p:ext uri="{BB962C8B-B14F-4D97-AF65-F5344CB8AC3E}">
        <p14:creationId xmlns:p14="http://schemas.microsoft.com/office/powerpoint/2010/main" val="20283411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Content Placeholder 2"/>
          <p:cNvSpPr>
            <a:spLocks noGrp="1"/>
          </p:cNvSpPr>
          <p:nvPr>
            <p:ph idx="1"/>
          </p:nvPr>
        </p:nvSpPr>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D37E0C47-EAC8-46CB-86A0-22851749A34D}" type="datetimeFigureOut">
              <a:rPr lang="tr-TR" smtClean="0"/>
              <a:t>16.11.2022</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5D459372-7631-45F4-B201-8DA690E3384E}" type="slidenum">
              <a:rPr lang="tr-TR" smtClean="0"/>
              <a:t>‹#›</a:t>
            </a:fld>
            <a:endParaRPr lang="tr-TR"/>
          </a:p>
        </p:txBody>
      </p:sp>
    </p:spTree>
    <p:extLst>
      <p:ext uri="{BB962C8B-B14F-4D97-AF65-F5344CB8AC3E}">
        <p14:creationId xmlns:p14="http://schemas.microsoft.com/office/powerpoint/2010/main" val="30957624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Bölüm Üst Bilgisi">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tr-TR"/>
              <a:t>Asıl başlık stilini düzenlemek için tıklayın</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düzenlemek için tıklayın</a:t>
            </a:r>
          </a:p>
        </p:txBody>
      </p:sp>
      <p:sp>
        <p:nvSpPr>
          <p:cNvPr id="4" name="Date Placeholder 3"/>
          <p:cNvSpPr>
            <a:spLocks noGrp="1"/>
          </p:cNvSpPr>
          <p:nvPr>
            <p:ph type="dt" sz="half" idx="10"/>
          </p:nvPr>
        </p:nvSpPr>
        <p:spPr>
          <a:xfrm>
            <a:off x="8593667" y="6272784"/>
            <a:ext cx="2644309" cy="365125"/>
          </a:xfrm>
        </p:spPr>
        <p:txBody>
          <a:bodyPr/>
          <a:lstStyle/>
          <a:p>
            <a:fld id="{D37E0C47-EAC8-46CB-86A0-22851749A34D}" type="datetimeFigureOut">
              <a:rPr lang="tr-TR" smtClean="0"/>
              <a:t>16.11.2022</a:t>
            </a:fld>
            <a:endParaRPr lang="tr-TR"/>
          </a:p>
        </p:txBody>
      </p:sp>
      <p:sp>
        <p:nvSpPr>
          <p:cNvPr id="5" name="Footer Placeholder 4"/>
          <p:cNvSpPr>
            <a:spLocks noGrp="1"/>
          </p:cNvSpPr>
          <p:nvPr>
            <p:ph type="ftr" sz="quarter" idx="11"/>
          </p:nvPr>
        </p:nvSpPr>
        <p:spPr>
          <a:xfrm>
            <a:off x="2182708" y="6272784"/>
            <a:ext cx="6327648" cy="365125"/>
          </a:xfrm>
        </p:spPr>
        <p:txBody>
          <a:bodyPr/>
          <a:lstStyle/>
          <a:p>
            <a:endParaRPr lang="tr-TR"/>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5D459372-7631-45F4-B201-8DA690E3384E}" type="slidenum">
              <a:rPr lang="tr-TR" smtClean="0"/>
              <a:t>‹#›</a:t>
            </a:fld>
            <a:endParaRPr lang="tr-TR"/>
          </a:p>
        </p:txBody>
      </p:sp>
    </p:spTree>
    <p:extLst>
      <p:ext uri="{BB962C8B-B14F-4D97-AF65-F5344CB8AC3E}">
        <p14:creationId xmlns:p14="http://schemas.microsoft.com/office/powerpoint/2010/main" val="23111928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Date Placeholder 4"/>
          <p:cNvSpPr>
            <a:spLocks noGrp="1"/>
          </p:cNvSpPr>
          <p:nvPr>
            <p:ph type="dt" sz="half" idx="10"/>
          </p:nvPr>
        </p:nvSpPr>
        <p:spPr/>
        <p:txBody>
          <a:bodyPr/>
          <a:lstStyle/>
          <a:p>
            <a:fld id="{D37E0C47-EAC8-46CB-86A0-22851749A34D}" type="datetimeFigureOut">
              <a:rPr lang="tr-TR" smtClean="0"/>
              <a:t>16.11.2022</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5D459372-7631-45F4-B201-8DA690E3384E}" type="slidenum">
              <a:rPr lang="tr-TR" smtClean="0"/>
              <a:t>‹#›</a:t>
            </a:fld>
            <a:endParaRPr lang="tr-TR"/>
          </a:p>
        </p:txBody>
      </p:sp>
    </p:spTree>
    <p:extLst>
      <p:ext uri="{BB962C8B-B14F-4D97-AF65-F5344CB8AC3E}">
        <p14:creationId xmlns:p14="http://schemas.microsoft.com/office/powerpoint/2010/main" val="25613912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tr-TR"/>
              <a:t>Asıl başlık stilini düzenlemek için tıklayın</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7" name="Date Placeholder 6"/>
          <p:cNvSpPr>
            <a:spLocks noGrp="1"/>
          </p:cNvSpPr>
          <p:nvPr>
            <p:ph type="dt" sz="half" idx="10"/>
          </p:nvPr>
        </p:nvSpPr>
        <p:spPr/>
        <p:txBody>
          <a:bodyPr/>
          <a:lstStyle/>
          <a:p>
            <a:fld id="{D37E0C47-EAC8-46CB-86A0-22851749A34D}" type="datetimeFigureOut">
              <a:rPr lang="tr-TR" smtClean="0"/>
              <a:t>16.11.2022</a:t>
            </a:fld>
            <a:endParaRPr lang="tr-TR"/>
          </a:p>
        </p:txBody>
      </p:sp>
      <p:sp>
        <p:nvSpPr>
          <p:cNvPr id="8" name="Footer Placeholder 7"/>
          <p:cNvSpPr>
            <a:spLocks noGrp="1"/>
          </p:cNvSpPr>
          <p:nvPr>
            <p:ph type="ftr" sz="quarter" idx="11"/>
          </p:nvPr>
        </p:nvSpPr>
        <p:spPr/>
        <p:txBody>
          <a:bodyPr/>
          <a:lstStyle/>
          <a:p>
            <a:endParaRPr lang="tr-TR"/>
          </a:p>
        </p:txBody>
      </p:sp>
      <p:sp>
        <p:nvSpPr>
          <p:cNvPr id="9" name="Slide Number Placeholder 8"/>
          <p:cNvSpPr>
            <a:spLocks noGrp="1"/>
          </p:cNvSpPr>
          <p:nvPr>
            <p:ph type="sldNum" sz="quarter" idx="12"/>
          </p:nvPr>
        </p:nvSpPr>
        <p:spPr/>
        <p:txBody>
          <a:bodyPr/>
          <a:lstStyle/>
          <a:p>
            <a:fld id="{5D459372-7631-45F4-B201-8DA690E3384E}" type="slidenum">
              <a:rPr lang="tr-TR" smtClean="0"/>
              <a:t>‹#›</a:t>
            </a:fld>
            <a:endParaRPr lang="tr-TR"/>
          </a:p>
        </p:txBody>
      </p:sp>
    </p:spTree>
    <p:extLst>
      <p:ext uri="{BB962C8B-B14F-4D97-AF65-F5344CB8AC3E}">
        <p14:creationId xmlns:p14="http://schemas.microsoft.com/office/powerpoint/2010/main" val="36818823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tr-TR"/>
              <a:t>Asıl başlık stilini düzenlemek için tıklayın</a:t>
            </a:r>
            <a:endParaRPr lang="en-US" dirty="0"/>
          </a:p>
        </p:txBody>
      </p:sp>
      <p:sp>
        <p:nvSpPr>
          <p:cNvPr id="3" name="Date Placeholder 2"/>
          <p:cNvSpPr>
            <a:spLocks noGrp="1"/>
          </p:cNvSpPr>
          <p:nvPr>
            <p:ph type="dt" sz="half" idx="10"/>
          </p:nvPr>
        </p:nvSpPr>
        <p:spPr/>
        <p:txBody>
          <a:bodyPr/>
          <a:lstStyle/>
          <a:p>
            <a:fld id="{D37E0C47-EAC8-46CB-86A0-22851749A34D}" type="datetimeFigureOut">
              <a:rPr lang="tr-TR" smtClean="0"/>
              <a:t>16.11.2022</a:t>
            </a:fld>
            <a:endParaRPr lang="tr-TR"/>
          </a:p>
        </p:txBody>
      </p:sp>
      <p:sp>
        <p:nvSpPr>
          <p:cNvPr id="4" name="Footer Placeholder 3"/>
          <p:cNvSpPr>
            <a:spLocks noGrp="1"/>
          </p:cNvSpPr>
          <p:nvPr>
            <p:ph type="ftr" sz="quarter" idx="11"/>
          </p:nvPr>
        </p:nvSpPr>
        <p:spPr/>
        <p:txBody>
          <a:bodyPr/>
          <a:lstStyle/>
          <a:p>
            <a:endParaRPr lang="tr-TR"/>
          </a:p>
        </p:txBody>
      </p:sp>
      <p:sp>
        <p:nvSpPr>
          <p:cNvPr id="5" name="Slide Number Placeholder 4"/>
          <p:cNvSpPr>
            <a:spLocks noGrp="1"/>
          </p:cNvSpPr>
          <p:nvPr>
            <p:ph type="sldNum" sz="quarter" idx="12"/>
          </p:nvPr>
        </p:nvSpPr>
        <p:spPr/>
        <p:txBody>
          <a:bodyPr/>
          <a:lstStyle/>
          <a:p>
            <a:fld id="{5D459372-7631-45F4-B201-8DA690E3384E}" type="slidenum">
              <a:rPr lang="tr-TR" smtClean="0"/>
              <a:t>‹#›</a:t>
            </a:fld>
            <a:endParaRPr lang="tr-TR"/>
          </a:p>
        </p:txBody>
      </p:sp>
    </p:spTree>
    <p:extLst>
      <p:ext uri="{BB962C8B-B14F-4D97-AF65-F5344CB8AC3E}">
        <p14:creationId xmlns:p14="http://schemas.microsoft.com/office/powerpoint/2010/main" val="10106315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37E0C47-EAC8-46CB-86A0-22851749A34D}" type="datetimeFigureOut">
              <a:rPr lang="tr-TR" smtClean="0"/>
              <a:t>16.11.2022</a:t>
            </a:fld>
            <a:endParaRPr lang="tr-TR"/>
          </a:p>
        </p:txBody>
      </p:sp>
      <p:sp>
        <p:nvSpPr>
          <p:cNvPr id="3" name="Footer Placeholder 2"/>
          <p:cNvSpPr>
            <a:spLocks noGrp="1"/>
          </p:cNvSpPr>
          <p:nvPr>
            <p:ph type="ftr" sz="quarter" idx="11"/>
          </p:nvPr>
        </p:nvSpPr>
        <p:spPr/>
        <p:txBody>
          <a:bodyPr/>
          <a:lstStyle/>
          <a:p>
            <a:endParaRPr lang="tr-TR"/>
          </a:p>
        </p:txBody>
      </p:sp>
      <p:sp>
        <p:nvSpPr>
          <p:cNvPr id="4" name="Slide Number Placeholder 3"/>
          <p:cNvSpPr>
            <a:spLocks noGrp="1"/>
          </p:cNvSpPr>
          <p:nvPr>
            <p:ph type="sldNum" sz="quarter" idx="12"/>
          </p:nvPr>
        </p:nvSpPr>
        <p:spPr/>
        <p:txBody>
          <a:bodyPr/>
          <a:lstStyle/>
          <a:p>
            <a:fld id="{5D459372-7631-45F4-B201-8DA690E3384E}" type="slidenum">
              <a:rPr lang="tr-TR" smtClean="0"/>
              <a:t>‹#›</a:t>
            </a:fld>
            <a:endParaRPr lang="tr-TR"/>
          </a:p>
        </p:txBody>
      </p:sp>
    </p:spTree>
    <p:extLst>
      <p:ext uri="{BB962C8B-B14F-4D97-AF65-F5344CB8AC3E}">
        <p14:creationId xmlns:p14="http://schemas.microsoft.com/office/powerpoint/2010/main" val="5756434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Başlıklı İçerik">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tr-TR"/>
              <a:t>Asıl başlık stilini düzenlemek için tıklayın</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D37E0C47-EAC8-46CB-86A0-22851749A34D}" type="datetimeFigureOut">
              <a:rPr lang="tr-TR" smtClean="0"/>
              <a:t>16.11.2022</a:t>
            </a:fld>
            <a:endParaRPr lang="tr-TR"/>
          </a:p>
        </p:txBody>
      </p:sp>
      <p:sp>
        <p:nvSpPr>
          <p:cNvPr id="6" name="Footer Placeholder 5"/>
          <p:cNvSpPr>
            <a:spLocks noGrp="1"/>
          </p:cNvSpPr>
          <p:nvPr>
            <p:ph type="ftr" sz="quarter" idx="11"/>
          </p:nvPr>
        </p:nvSpPr>
        <p:spPr/>
        <p:txBody>
          <a:bodyPr/>
          <a:lstStyle/>
          <a:p>
            <a:endParaRPr lang="tr-TR"/>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5D459372-7631-45F4-B201-8DA690E3384E}" type="slidenum">
              <a:rPr lang="tr-TR" smtClean="0"/>
              <a:t>‹#›</a:t>
            </a:fld>
            <a:endParaRPr lang="tr-TR"/>
          </a:p>
        </p:txBody>
      </p:sp>
    </p:spTree>
    <p:extLst>
      <p:ext uri="{BB962C8B-B14F-4D97-AF65-F5344CB8AC3E}">
        <p14:creationId xmlns:p14="http://schemas.microsoft.com/office/powerpoint/2010/main" val="21170250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Başlıklı Resim">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tr-TR"/>
              <a:t>Asıl başlık stilini düzenlemek için tıklayın</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tr-TR"/>
              <a:t>Resim eklemek için simgeye tıklayın</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D37E0C47-EAC8-46CB-86A0-22851749A34D}" type="datetimeFigureOut">
              <a:rPr lang="tr-TR" smtClean="0"/>
              <a:t>16.11.2022</a:t>
            </a:fld>
            <a:endParaRPr lang="tr-TR"/>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5D459372-7631-45F4-B201-8DA690E3384E}" type="slidenum">
              <a:rPr lang="tr-TR" smtClean="0"/>
              <a:t>‹#›</a:t>
            </a:fld>
            <a:endParaRPr lang="tr-TR"/>
          </a:p>
        </p:txBody>
      </p:sp>
    </p:spTree>
    <p:extLst>
      <p:ext uri="{BB962C8B-B14F-4D97-AF65-F5344CB8AC3E}">
        <p14:creationId xmlns:p14="http://schemas.microsoft.com/office/powerpoint/2010/main" val="18509502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Vertical Text Placeholder 2"/>
          <p:cNvSpPr>
            <a:spLocks noGrp="1"/>
          </p:cNvSpPr>
          <p:nvPr>
            <p:ph type="body" orient="vert" idx="1"/>
          </p:nvPr>
        </p:nvSpPr>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D37E0C47-EAC8-46CB-86A0-22851749A34D}" type="datetimeFigureOut">
              <a:rPr lang="tr-TR" smtClean="0"/>
              <a:t>16.11.2022</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5D459372-7631-45F4-B201-8DA690E3384E}" type="slidenum">
              <a:rPr lang="tr-TR" smtClean="0"/>
              <a:t>‹#›</a:t>
            </a:fld>
            <a:endParaRPr lang="tr-TR"/>
          </a:p>
        </p:txBody>
      </p:sp>
    </p:spTree>
    <p:extLst>
      <p:ext uri="{BB962C8B-B14F-4D97-AF65-F5344CB8AC3E}">
        <p14:creationId xmlns:p14="http://schemas.microsoft.com/office/powerpoint/2010/main" val="9460004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tr-TR"/>
              <a:t>Asıl başlık stilini düzenlemek için tıklayın</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D37E0C47-EAC8-46CB-86A0-22851749A34D}" type="datetimeFigureOut">
              <a:rPr lang="tr-TR" smtClean="0"/>
              <a:t>16.11.2022</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5D459372-7631-45F4-B201-8DA690E3384E}" type="slidenum">
              <a:rPr lang="tr-TR" smtClean="0"/>
              <a:t>‹#›</a:t>
            </a:fld>
            <a:endParaRPr lang="tr-TR"/>
          </a:p>
        </p:txBody>
      </p:sp>
    </p:spTree>
    <p:extLst>
      <p:ext uri="{BB962C8B-B14F-4D97-AF65-F5344CB8AC3E}">
        <p14:creationId xmlns:p14="http://schemas.microsoft.com/office/powerpoint/2010/main" val="21422879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tr-TR"/>
              <a:t>Asıl başlık stilini düzenlemek için tıklayın</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D37E0C47-EAC8-46CB-86A0-22851749A34D}" type="datetimeFigureOut">
              <a:rPr lang="tr-TR" smtClean="0"/>
              <a:t>16.11.2022</a:t>
            </a:fld>
            <a:endParaRPr lang="tr-TR"/>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tr-TR"/>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5D459372-7631-45F4-B201-8DA690E3384E}" type="slidenum">
              <a:rPr lang="tr-TR" smtClean="0"/>
              <a:t>‹#›</a:t>
            </a:fld>
            <a:endParaRPr lang="tr-TR"/>
          </a:p>
        </p:txBody>
      </p:sp>
    </p:spTree>
    <p:extLst>
      <p:ext uri="{BB962C8B-B14F-4D97-AF65-F5344CB8AC3E}">
        <p14:creationId xmlns:p14="http://schemas.microsoft.com/office/powerpoint/2010/main" val="501946629"/>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043DD6E7-C460-8F44-5A9A-60FD41D06A79}"/>
              </a:ext>
            </a:extLst>
          </p:cNvPr>
          <p:cNvSpPr>
            <a:spLocks noGrp="1"/>
          </p:cNvSpPr>
          <p:nvPr>
            <p:ph type="ctrTitle"/>
          </p:nvPr>
        </p:nvSpPr>
        <p:spPr>
          <a:xfrm>
            <a:off x="1112520" y="1133285"/>
            <a:ext cx="9966960" cy="3035808"/>
          </a:xfrm>
        </p:spPr>
        <p:txBody>
          <a:bodyPr/>
          <a:lstStyle/>
          <a:p>
            <a:r>
              <a:rPr lang="tr-TR" sz="4000" dirty="0">
                <a:latin typeface="Bahnschrift" panose="020B0502040204020203" pitchFamily="34" charset="0"/>
              </a:rPr>
              <a:t>Görüntü İşleme</a:t>
            </a:r>
            <a:r>
              <a:rPr lang="tr-TR" dirty="0">
                <a:latin typeface="Bahnschrift" panose="020B0502040204020203" pitchFamily="34" charset="0"/>
              </a:rPr>
              <a:t> </a:t>
            </a:r>
            <a:r>
              <a:rPr lang="tr-TR" sz="4000" dirty="0">
                <a:latin typeface="Bahnschrift" panose="020B0502040204020203" pitchFamily="34" charset="0"/>
              </a:rPr>
              <a:t>Yöntemleri Kullanılarak Kiraz Meyvesinin Sınıflandırılması</a:t>
            </a:r>
          </a:p>
        </p:txBody>
      </p:sp>
      <p:sp>
        <p:nvSpPr>
          <p:cNvPr id="3" name="Alt Başlık 2">
            <a:extLst>
              <a:ext uri="{FF2B5EF4-FFF2-40B4-BE49-F238E27FC236}">
                <a16:creationId xmlns:a16="http://schemas.microsoft.com/office/drawing/2014/main" id="{72579106-5D61-7BC2-C57E-B9F3D30C7591}"/>
              </a:ext>
            </a:extLst>
          </p:cNvPr>
          <p:cNvSpPr>
            <a:spLocks noGrp="1"/>
          </p:cNvSpPr>
          <p:nvPr>
            <p:ph type="subTitle" idx="1"/>
          </p:nvPr>
        </p:nvSpPr>
        <p:spPr>
          <a:xfrm>
            <a:off x="1545609" y="4441187"/>
            <a:ext cx="6831673" cy="1086237"/>
          </a:xfrm>
        </p:spPr>
        <p:txBody>
          <a:bodyPr>
            <a:normAutofit/>
          </a:bodyPr>
          <a:lstStyle/>
          <a:p>
            <a:r>
              <a:rPr lang="tr-TR" dirty="0"/>
              <a:t>                                       AHMET FARUK PALA</a:t>
            </a:r>
          </a:p>
          <a:p>
            <a:r>
              <a:rPr lang="tr-TR" dirty="0"/>
              <a:t>                                             02180201008</a:t>
            </a:r>
          </a:p>
        </p:txBody>
      </p:sp>
    </p:spTree>
    <p:extLst>
      <p:ext uri="{BB962C8B-B14F-4D97-AF65-F5344CB8AC3E}">
        <p14:creationId xmlns:p14="http://schemas.microsoft.com/office/powerpoint/2010/main" val="30633858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E3007454-0A7F-A65B-3882-92D5D671C36D}"/>
              </a:ext>
            </a:extLst>
          </p:cNvPr>
          <p:cNvSpPr>
            <a:spLocks noGrp="1"/>
          </p:cNvSpPr>
          <p:nvPr>
            <p:ph idx="1"/>
          </p:nvPr>
        </p:nvSpPr>
        <p:spPr>
          <a:xfrm>
            <a:off x="773722" y="723188"/>
            <a:ext cx="10432473" cy="5805055"/>
          </a:xfrm>
        </p:spPr>
        <p:txBody>
          <a:bodyPr>
            <a:normAutofit/>
          </a:bodyPr>
          <a:lstStyle/>
          <a:p>
            <a:r>
              <a:rPr lang="tr-TR" dirty="0"/>
              <a:t>Kiraz, gülgiller familyasındandır. Dünyada 1500 civarında kiraz çeşidi vardır. Dünya meyve ticaretinde belirli standartlara göre sınıflandırılmış kaliteli ürünler tercih edilmektedir. </a:t>
            </a:r>
          </a:p>
          <a:p>
            <a:r>
              <a:rPr lang="tr-TR" dirty="0"/>
              <a:t>Sınıflandırma işlemi insanlar ve makinalar ile gerçekleştirilebilmektedir ancak ürünlerdeki şekilsel farklılıklar ve insanlardan kaynaklanan hatalar nedeniyle verimli bir sınıflandırma yapılamamaktadır. Bu nedenle ölçümler sırasında görüntü işleme tekniklerinin tarım sektöründe önemli bir yeri vardır.</a:t>
            </a:r>
          </a:p>
          <a:p>
            <a:r>
              <a:rPr lang="tr-TR" dirty="0"/>
              <a:t>Yapılan çalışmada, ülkemizde yaygın olarak yetiştirilen ve önemli ihracat ürünlerinden biri olan kiraz meyvesinin, Matlab R2013a programı kullanılarak büyüklüklerine göre sınıflandırılması amaçlanmıştır. </a:t>
            </a:r>
          </a:p>
        </p:txBody>
      </p:sp>
    </p:spTree>
    <p:extLst>
      <p:ext uri="{BB962C8B-B14F-4D97-AF65-F5344CB8AC3E}">
        <p14:creationId xmlns:p14="http://schemas.microsoft.com/office/powerpoint/2010/main" val="9087946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3B61E512-77A8-45B5-7B2E-E8FEAC5AFA8C}"/>
              </a:ext>
            </a:extLst>
          </p:cNvPr>
          <p:cNvSpPr>
            <a:spLocks noGrp="1"/>
          </p:cNvSpPr>
          <p:nvPr>
            <p:ph type="title"/>
          </p:nvPr>
        </p:nvSpPr>
        <p:spPr>
          <a:xfrm>
            <a:off x="914400" y="431878"/>
            <a:ext cx="10058400" cy="1609344"/>
          </a:xfrm>
        </p:spPr>
        <p:txBody>
          <a:bodyPr/>
          <a:lstStyle/>
          <a:p>
            <a:r>
              <a:rPr lang="tr-TR" b="1" dirty="0"/>
              <a:t>Materyal ve Metot</a:t>
            </a:r>
          </a:p>
        </p:txBody>
      </p:sp>
      <p:sp>
        <p:nvSpPr>
          <p:cNvPr id="3" name="İçerik Yer Tutucusu 2">
            <a:extLst>
              <a:ext uri="{FF2B5EF4-FFF2-40B4-BE49-F238E27FC236}">
                <a16:creationId xmlns:a16="http://schemas.microsoft.com/office/drawing/2014/main" id="{07D34732-08F9-5496-D823-84BF56EBF55A}"/>
              </a:ext>
            </a:extLst>
          </p:cNvPr>
          <p:cNvSpPr>
            <a:spLocks noGrp="1"/>
          </p:cNvSpPr>
          <p:nvPr>
            <p:ph idx="1"/>
          </p:nvPr>
        </p:nvSpPr>
        <p:spPr>
          <a:xfrm>
            <a:off x="1081454" y="1747981"/>
            <a:ext cx="9601200" cy="2128982"/>
          </a:xfrm>
        </p:spPr>
        <p:txBody>
          <a:bodyPr>
            <a:normAutofit/>
          </a:bodyPr>
          <a:lstStyle/>
          <a:p>
            <a:pPr marL="0" indent="0">
              <a:buNone/>
            </a:pPr>
            <a:r>
              <a:rPr lang="tr-TR" sz="2800" b="1" dirty="0"/>
              <a:t>Kiraz Meyvesi</a:t>
            </a:r>
          </a:p>
          <a:p>
            <a:r>
              <a:rPr lang="tr-TR" dirty="0"/>
              <a:t>Latince ismi 'Prunus </a:t>
            </a:r>
            <a:r>
              <a:rPr lang="tr-TR" dirty="0" err="1"/>
              <a:t>avium</a:t>
            </a:r>
            <a:r>
              <a:rPr lang="tr-TR" dirty="0"/>
              <a:t>' olan kiraz ağacı, Gülgiller (</a:t>
            </a:r>
            <a:r>
              <a:rPr lang="tr-TR" dirty="0" err="1"/>
              <a:t>Rosaceae</a:t>
            </a:r>
            <a:r>
              <a:rPr lang="tr-TR" dirty="0"/>
              <a:t>) familyasının bir üyesidir. Dünyada 1500 civarında çeşidi olan kiraz, tatlı aromalı, sulu ve sert çekirdekli bir meyve türüdür. Kiraz; kalsiyum, çinko, potasyum, karotenoidler, lif, ve C vitamini, demir, tiamin, riboflavin, </a:t>
            </a:r>
            <a:r>
              <a:rPr lang="tr-TR" dirty="0" err="1"/>
              <a:t>niasin</a:t>
            </a:r>
            <a:r>
              <a:rPr lang="tr-TR" dirty="0"/>
              <a:t>, magnezyum, E ve B6 vitaminleri bakımından zengin bir meyvedir.</a:t>
            </a:r>
          </a:p>
          <a:p>
            <a:pPr marL="0" indent="0">
              <a:buNone/>
            </a:pPr>
            <a:endParaRPr lang="tr-TR" dirty="0"/>
          </a:p>
          <a:p>
            <a:pPr marL="0" indent="0">
              <a:buNone/>
            </a:pPr>
            <a:endParaRPr lang="tr-TR" dirty="0"/>
          </a:p>
        </p:txBody>
      </p:sp>
      <p:pic>
        <p:nvPicPr>
          <p:cNvPr id="5" name="Resim 4">
            <a:extLst>
              <a:ext uri="{FF2B5EF4-FFF2-40B4-BE49-F238E27FC236}">
                <a16:creationId xmlns:a16="http://schemas.microsoft.com/office/drawing/2014/main" id="{E4FF78B9-0F69-3A93-41DA-69FEBF9793A4}"/>
              </a:ext>
            </a:extLst>
          </p:cNvPr>
          <p:cNvPicPr>
            <a:picLocks noChangeAspect="1"/>
          </p:cNvPicPr>
          <p:nvPr/>
        </p:nvPicPr>
        <p:blipFill>
          <a:blip r:embed="rId2"/>
          <a:stretch>
            <a:fillRect/>
          </a:stretch>
        </p:blipFill>
        <p:spPr>
          <a:xfrm>
            <a:off x="2845801" y="4045528"/>
            <a:ext cx="6195597" cy="2446232"/>
          </a:xfrm>
          <a:prstGeom prst="rect">
            <a:avLst/>
          </a:prstGeom>
        </p:spPr>
      </p:pic>
    </p:spTree>
    <p:extLst>
      <p:ext uri="{BB962C8B-B14F-4D97-AF65-F5344CB8AC3E}">
        <p14:creationId xmlns:p14="http://schemas.microsoft.com/office/powerpoint/2010/main" val="34788307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A262D19C-B886-3D5B-CF52-2242EAF394AD}"/>
              </a:ext>
            </a:extLst>
          </p:cNvPr>
          <p:cNvSpPr>
            <a:spLocks noGrp="1"/>
          </p:cNvSpPr>
          <p:nvPr>
            <p:ph idx="1"/>
          </p:nvPr>
        </p:nvSpPr>
        <p:spPr>
          <a:xfrm>
            <a:off x="1213338" y="614663"/>
            <a:ext cx="9601200" cy="3375890"/>
          </a:xfrm>
        </p:spPr>
        <p:txBody>
          <a:bodyPr>
            <a:normAutofit fontScale="92500" lnSpcReduction="10000"/>
          </a:bodyPr>
          <a:lstStyle/>
          <a:p>
            <a:pPr marL="0" indent="0">
              <a:buNone/>
            </a:pPr>
            <a:r>
              <a:rPr lang="tr-TR" sz="3300" b="1" dirty="0"/>
              <a:t>Görüntü İşleme</a:t>
            </a:r>
          </a:p>
          <a:p>
            <a:r>
              <a:rPr lang="tr-TR" dirty="0"/>
              <a:t>Görüntü işleme, görüntüyü dijital form haline getirerek spesifik görüntü elde etmek yada yazılımsal olarak görüntü üzerinde istenilen sonucu elde etmek için kullanılan bir yöntemdir.</a:t>
            </a:r>
          </a:p>
          <a:p>
            <a:r>
              <a:rPr lang="tr-TR" dirty="0"/>
              <a:t>Görüntü işlemeyi matrisler üzerinde yapılan işlemler bütünü şeklinde de tanımlayabiliriz. </a:t>
            </a:r>
            <a:r>
              <a:rPr lang="tr-TR" dirty="0" err="1"/>
              <a:t>Resimi</a:t>
            </a:r>
            <a:r>
              <a:rPr lang="tr-TR" dirty="0"/>
              <a:t> en küçük parçalarına böldüğümüzde </a:t>
            </a:r>
            <a:r>
              <a:rPr lang="tr-TR" dirty="0" err="1"/>
              <a:t>pixsel</a:t>
            </a:r>
            <a:r>
              <a:rPr lang="tr-TR" dirty="0"/>
              <a:t> adını verdiğimiz matrislerden oluştuğunu görmekteyiz. Görüntü işleme yöntemlerinde pikseli oluşturan matris hücrelerinin üzerinden işlemler yapılmaktadır.</a:t>
            </a:r>
          </a:p>
          <a:p>
            <a:r>
              <a:rPr lang="tr-TR" dirty="0"/>
              <a:t>MATLAB (</a:t>
            </a:r>
            <a:r>
              <a:rPr lang="tr-TR" dirty="0" err="1"/>
              <a:t>MATrix</a:t>
            </a:r>
            <a:r>
              <a:rPr lang="tr-TR" dirty="0"/>
              <a:t> </a:t>
            </a:r>
            <a:r>
              <a:rPr lang="tr-TR" dirty="0" err="1"/>
              <a:t>LABoratory</a:t>
            </a:r>
            <a:r>
              <a:rPr lang="tr-TR" dirty="0"/>
              <a:t>), 1985’de C.B </a:t>
            </a:r>
            <a:r>
              <a:rPr lang="tr-TR" dirty="0" err="1"/>
              <a:t>Moler</a:t>
            </a:r>
            <a:r>
              <a:rPr lang="tr-TR" dirty="0"/>
              <a:t> tarafından, özellikle matris temelli matematik ortamında kullanılmak üzere geliştirilmiş etkileşimli bir paket programlama dilidir. Yapılan çalışmada Matlab R2013a programı kullanılmıştır.</a:t>
            </a:r>
          </a:p>
        </p:txBody>
      </p:sp>
      <p:pic>
        <p:nvPicPr>
          <p:cNvPr id="5" name="Resim 4">
            <a:extLst>
              <a:ext uri="{FF2B5EF4-FFF2-40B4-BE49-F238E27FC236}">
                <a16:creationId xmlns:a16="http://schemas.microsoft.com/office/drawing/2014/main" id="{E6F2CD0D-5A0E-1F6A-4B2A-04F0EC979B51}"/>
              </a:ext>
            </a:extLst>
          </p:cNvPr>
          <p:cNvPicPr>
            <a:picLocks noChangeAspect="1"/>
          </p:cNvPicPr>
          <p:nvPr/>
        </p:nvPicPr>
        <p:blipFill>
          <a:blip r:embed="rId2"/>
          <a:stretch>
            <a:fillRect/>
          </a:stretch>
        </p:blipFill>
        <p:spPr>
          <a:xfrm>
            <a:off x="3644891" y="4372263"/>
            <a:ext cx="5326382" cy="2161153"/>
          </a:xfrm>
          <a:prstGeom prst="rect">
            <a:avLst/>
          </a:prstGeom>
        </p:spPr>
      </p:pic>
    </p:spTree>
    <p:extLst>
      <p:ext uri="{BB962C8B-B14F-4D97-AF65-F5344CB8AC3E}">
        <p14:creationId xmlns:p14="http://schemas.microsoft.com/office/powerpoint/2010/main" val="27774415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FDC2381C-A1E1-61A0-883A-199FE154D4E0}"/>
              </a:ext>
            </a:extLst>
          </p:cNvPr>
          <p:cNvSpPr>
            <a:spLocks noGrp="1"/>
          </p:cNvSpPr>
          <p:nvPr>
            <p:ph idx="1"/>
          </p:nvPr>
        </p:nvSpPr>
        <p:spPr>
          <a:xfrm>
            <a:off x="1145931" y="505690"/>
            <a:ext cx="9601200" cy="2923310"/>
          </a:xfrm>
        </p:spPr>
        <p:txBody>
          <a:bodyPr>
            <a:normAutofit fontScale="92500"/>
          </a:bodyPr>
          <a:lstStyle/>
          <a:p>
            <a:pPr marL="0" indent="0">
              <a:buNone/>
            </a:pPr>
            <a:r>
              <a:rPr lang="tr-TR" sz="2800" b="1" dirty="0"/>
              <a:t>Uygulama</a:t>
            </a:r>
          </a:p>
          <a:p>
            <a:r>
              <a:rPr lang="tr-TR" dirty="0"/>
              <a:t>Sınıflandırma işlemi yapılacak kirazlar Türk Standardı Tasarısı 793’de belirlenen veriler ve diğer kaynaklardan elde edilen boyut standartlarına göre sınıflandırılmıştır.</a:t>
            </a:r>
          </a:p>
          <a:p>
            <a:r>
              <a:rPr lang="tr-TR" dirty="0"/>
              <a:t>Tablo 1’ de belirtilen boyutlara göre, sınıflandırılacak olan kirazların hangi sınıfa dahil oldukları gösterilmiştir. Ancak bu boyutlar kiraz çeşidi ve sınıflandırma biçimine göre gerçekleştirilen program da değiştirilebilmektedir. Yapılan çalışmada, görüntüsü alınan kirazların Tablo 1’ de belirlenen standartlara göre Matlab programı ile sınıflandırılması yapılmıştır. </a:t>
            </a:r>
          </a:p>
          <a:p>
            <a:endParaRPr lang="tr-TR" dirty="0"/>
          </a:p>
        </p:txBody>
      </p:sp>
      <p:pic>
        <p:nvPicPr>
          <p:cNvPr id="5" name="Resim 4">
            <a:extLst>
              <a:ext uri="{FF2B5EF4-FFF2-40B4-BE49-F238E27FC236}">
                <a16:creationId xmlns:a16="http://schemas.microsoft.com/office/drawing/2014/main" id="{E9723FAE-5B14-D298-2CE1-FD11439B33D5}"/>
              </a:ext>
            </a:extLst>
          </p:cNvPr>
          <p:cNvPicPr>
            <a:picLocks noChangeAspect="1"/>
          </p:cNvPicPr>
          <p:nvPr/>
        </p:nvPicPr>
        <p:blipFill>
          <a:blip r:embed="rId2"/>
          <a:stretch>
            <a:fillRect/>
          </a:stretch>
        </p:blipFill>
        <p:spPr>
          <a:xfrm>
            <a:off x="3208306" y="3807070"/>
            <a:ext cx="5916063" cy="2400556"/>
          </a:xfrm>
          <a:prstGeom prst="rect">
            <a:avLst/>
          </a:prstGeom>
        </p:spPr>
      </p:pic>
    </p:spTree>
    <p:extLst>
      <p:ext uri="{BB962C8B-B14F-4D97-AF65-F5344CB8AC3E}">
        <p14:creationId xmlns:p14="http://schemas.microsoft.com/office/powerpoint/2010/main" val="38421516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Resim 4">
            <a:extLst>
              <a:ext uri="{FF2B5EF4-FFF2-40B4-BE49-F238E27FC236}">
                <a16:creationId xmlns:a16="http://schemas.microsoft.com/office/drawing/2014/main" id="{246C7E95-DF19-4375-A835-2FAF909F92C8}"/>
              </a:ext>
            </a:extLst>
          </p:cNvPr>
          <p:cNvPicPr>
            <a:picLocks noChangeAspect="1"/>
          </p:cNvPicPr>
          <p:nvPr/>
        </p:nvPicPr>
        <p:blipFill>
          <a:blip r:embed="rId2"/>
          <a:stretch>
            <a:fillRect/>
          </a:stretch>
        </p:blipFill>
        <p:spPr>
          <a:xfrm>
            <a:off x="1700397" y="1380393"/>
            <a:ext cx="8791205" cy="3174022"/>
          </a:xfrm>
          <a:prstGeom prst="rect">
            <a:avLst/>
          </a:prstGeom>
        </p:spPr>
      </p:pic>
    </p:spTree>
    <p:extLst>
      <p:ext uri="{BB962C8B-B14F-4D97-AF65-F5344CB8AC3E}">
        <p14:creationId xmlns:p14="http://schemas.microsoft.com/office/powerpoint/2010/main" val="37078630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Resim 4">
            <a:extLst>
              <a:ext uri="{FF2B5EF4-FFF2-40B4-BE49-F238E27FC236}">
                <a16:creationId xmlns:a16="http://schemas.microsoft.com/office/drawing/2014/main" id="{A2FC8C96-8FBF-1686-226D-54C6E29F026E}"/>
              </a:ext>
            </a:extLst>
          </p:cNvPr>
          <p:cNvPicPr>
            <a:picLocks noChangeAspect="1"/>
          </p:cNvPicPr>
          <p:nvPr/>
        </p:nvPicPr>
        <p:blipFill>
          <a:blip r:embed="rId2"/>
          <a:stretch>
            <a:fillRect/>
          </a:stretch>
        </p:blipFill>
        <p:spPr>
          <a:xfrm>
            <a:off x="2285546" y="1160140"/>
            <a:ext cx="7620908" cy="3694546"/>
          </a:xfrm>
          <a:prstGeom prst="rect">
            <a:avLst/>
          </a:prstGeom>
        </p:spPr>
      </p:pic>
    </p:spTree>
    <p:extLst>
      <p:ext uri="{BB962C8B-B14F-4D97-AF65-F5344CB8AC3E}">
        <p14:creationId xmlns:p14="http://schemas.microsoft.com/office/powerpoint/2010/main" val="21660022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B092280C-6F1C-5D8B-5105-3FE1A2643B8C}"/>
              </a:ext>
            </a:extLst>
          </p:cNvPr>
          <p:cNvSpPr>
            <a:spLocks noGrp="1"/>
          </p:cNvSpPr>
          <p:nvPr>
            <p:ph idx="1"/>
          </p:nvPr>
        </p:nvSpPr>
        <p:spPr>
          <a:xfrm>
            <a:off x="1134208" y="729673"/>
            <a:ext cx="9601200" cy="2013527"/>
          </a:xfrm>
        </p:spPr>
        <p:txBody>
          <a:bodyPr>
            <a:normAutofit/>
          </a:bodyPr>
          <a:lstStyle/>
          <a:p>
            <a:r>
              <a:rPr lang="tr-TR" dirty="0"/>
              <a:t>İşlenmiş olarak sisteme yüklenen resim siyah- beyaz piksellere dönüştürülmektedir. Resmin siyah-beyaz piksellere yani </a:t>
            </a:r>
            <a:r>
              <a:rPr lang="tr-TR" dirty="0" err="1"/>
              <a:t>binary</a:t>
            </a:r>
            <a:r>
              <a:rPr lang="tr-TR" dirty="0"/>
              <a:t> moda dönüştürülmesi iki aşamada gerçekleşmektedir. İlk aşamada resmin arka planı beyaza kirazlar ise siyaha dönüştürülmektedir. İkinci aşamada ise </a:t>
            </a:r>
            <a:r>
              <a:rPr lang="tr-TR" dirty="0" err="1"/>
              <a:t>binary</a:t>
            </a:r>
            <a:r>
              <a:rPr lang="tr-TR" dirty="0"/>
              <a:t> moddaki resim Matlab </a:t>
            </a:r>
            <a:r>
              <a:rPr lang="tr-TR" dirty="0" err="1"/>
              <a:t>bwboundaries</a:t>
            </a:r>
            <a:r>
              <a:rPr lang="tr-TR" dirty="0"/>
              <a:t> komutu ile ters çevrilerek arka plan siyaha sınıflandırılacak olan kirazlar beyaza dönüştürülmektedir.</a:t>
            </a:r>
          </a:p>
        </p:txBody>
      </p:sp>
      <p:pic>
        <p:nvPicPr>
          <p:cNvPr id="5" name="Resim 4">
            <a:extLst>
              <a:ext uri="{FF2B5EF4-FFF2-40B4-BE49-F238E27FC236}">
                <a16:creationId xmlns:a16="http://schemas.microsoft.com/office/drawing/2014/main" id="{F70459B7-05FB-42F3-869D-277D31303CC6}"/>
              </a:ext>
            </a:extLst>
          </p:cNvPr>
          <p:cNvPicPr>
            <a:picLocks noChangeAspect="1"/>
          </p:cNvPicPr>
          <p:nvPr/>
        </p:nvPicPr>
        <p:blipFill>
          <a:blip r:embed="rId2"/>
          <a:stretch>
            <a:fillRect/>
          </a:stretch>
        </p:blipFill>
        <p:spPr>
          <a:xfrm>
            <a:off x="2942837" y="2962031"/>
            <a:ext cx="5638109" cy="3131127"/>
          </a:xfrm>
          <a:prstGeom prst="rect">
            <a:avLst/>
          </a:prstGeom>
        </p:spPr>
      </p:pic>
    </p:spTree>
    <p:extLst>
      <p:ext uri="{BB962C8B-B14F-4D97-AF65-F5344CB8AC3E}">
        <p14:creationId xmlns:p14="http://schemas.microsoft.com/office/powerpoint/2010/main" val="37857423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F2346087-013B-8FFB-FFF9-82BDFD8AAC23}"/>
              </a:ext>
            </a:extLst>
          </p:cNvPr>
          <p:cNvSpPr>
            <a:spLocks noGrp="1"/>
          </p:cNvSpPr>
          <p:nvPr>
            <p:ph idx="1"/>
          </p:nvPr>
        </p:nvSpPr>
        <p:spPr>
          <a:xfrm>
            <a:off x="1066800" y="570360"/>
            <a:ext cx="9601200" cy="1888836"/>
          </a:xfrm>
        </p:spPr>
        <p:txBody>
          <a:bodyPr>
            <a:normAutofit/>
          </a:bodyPr>
          <a:lstStyle/>
          <a:p>
            <a:r>
              <a:rPr lang="tr-TR" dirty="0"/>
              <a:t>Resim siyah-beyaz piksellere dönüştürülüp ters çevirme işlemi uygulandıktan sonra resimde bulunan belirli boyutun altındaki gürültü olarak tabir edilen nesneler Matlab </a:t>
            </a:r>
            <a:r>
              <a:rPr lang="tr-TR" dirty="0" err="1"/>
              <a:t>bwareaopen</a:t>
            </a:r>
            <a:r>
              <a:rPr lang="tr-TR" dirty="0"/>
              <a:t> komutu ile kaldırılmıştır. Daha sonra program tarafından tespit edilen kirazların sınırları eşikleme yöntemi kullanılarak mavi renk ile belirlenmiş ve resimde bulunan nesne sayısı ekrana yansıtılmıştır. </a:t>
            </a:r>
          </a:p>
        </p:txBody>
      </p:sp>
      <p:pic>
        <p:nvPicPr>
          <p:cNvPr id="5" name="Resim 4">
            <a:extLst>
              <a:ext uri="{FF2B5EF4-FFF2-40B4-BE49-F238E27FC236}">
                <a16:creationId xmlns:a16="http://schemas.microsoft.com/office/drawing/2014/main" id="{D783703B-028C-716C-4F44-F7D6000796E6}"/>
              </a:ext>
            </a:extLst>
          </p:cNvPr>
          <p:cNvPicPr>
            <a:picLocks noChangeAspect="1"/>
          </p:cNvPicPr>
          <p:nvPr/>
        </p:nvPicPr>
        <p:blipFill>
          <a:blip r:embed="rId2"/>
          <a:stretch>
            <a:fillRect/>
          </a:stretch>
        </p:blipFill>
        <p:spPr>
          <a:xfrm>
            <a:off x="2820610" y="2626585"/>
            <a:ext cx="6550779" cy="3544439"/>
          </a:xfrm>
          <a:prstGeom prst="rect">
            <a:avLst/>
          </a:prstGeom>
        </p:spPr>
      </p:pic>
    </p:spTree>
    <p:extLst>
      <p:ext uri="{BB962C8B-B14F-4D97-AF65-F5344CB8AC3E}">
        <p14:creationId xmlns:p14="http://schemas.microsoft.com/office/powerpoint/2010/main" val="2339042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9937007C-8BE5-DF61-79D8-74272E654F91}"/>
              </a:ext>
            </a:extLst>
          </p:cNvPr>
          <p:cNvSpPr>
            <a:spLocks noGrp="1"/>
          </p:cNvSpPr>
          <p:nvPr>
            <p:ph idx="1"/>
          </p:nvPr>
        </p:nvSpPr>
        <p:spPr>
          <a:xfrm>
            <a:off x="1022839" y="622922"/>
            <a:ext cx="9601200" cy="2999509"/>
          </a:xfrm>
        </p:spPr>
        <p:txBody>
          <a:bodyPr>
            <a:normAutofit/>
          </a:bodyPr>
          <a:lstStyle/>
          <a:p>
            <a:r>
              <a:rPr lang="tr-TR" dirty="0"/>
              <a:t>Sınırları belirlenen kirazlar belirli işlemlerden geçirildikten sonra kirazlara ait alan bilgileri hesaplanmıştır. Hesaplanan alan verileri yukarıdaki Tablo 1’de belirlenen boyut standartlarına göre değerlendirilmiş ve değerlendirme sonucunda kirazlar boyutlarına göre sınıflandırılmıştır.</a:t>
            </a:r>
          </a:p>
          <a:p>
            <a:r>
              <a:rPr lang="tr-TR" dirty="0"/>
              <a:t>Sınırları belirlenen kirazlar belirli işlemlerden geçirildikten sonra kirazlara ait alan bilgileri hesaplanmıştır. Hesaplanan alan verileri yukarıdaki Tablo 1’de belirlenen boyut standartlarına göre değerlendirilmiş ve değerlendirme sonucunda kirazlar boyutlarına göre sınıflandırılmıştır.</a:t>
            </a:r>
          </a:p>
        </p:txBody>
      </p:sp>
      <p:pic>
        <p:nvPicPr>
          <p:cNvPr id="5" name="Resim 4">
            <a:extLst>
              <a:ext uri="{FF2B5EF4-FFF2-40B4-BE49-F238E27FC236}">
                <a16:creationId xmlns:a16="http://schemas.microsoft.com/office/drawing/2014/main" id="{0D3952BD-4481-DF4B-77FF-D6F0B23E50E2}"/>
              </a:ext>
            </a:extLst>
          </p:cNvPr>
          <p:cNvPicPr>
            <a:picLocks noChangeAspect="1"/>
          </p:cNvPicPr>
          <p:nvPr/>
        </p:nvPicPr>
        <p:blipFill>
          <a:blip r:embed="rId2"/>
          <a:stretch>
            <a:fillRect/>
          </a:stretch>
        </p:blipFill>
        <p:spPr>
          <a:xfrm>
            <a:off x="3142358" y="3429000"/>
            <a:ext cx="5907284" cy="3186213"/>
          </a:xfrm>
          <a:prstGeom prst="rect">
            <a:avLst/>
          </a:prstGeom>
        </p:spPr>
      </p:pic>
    </p:spTree>
    <p:extLst>
      <p:ext uri="{BB962C8B-B14F-4D97-AF65-F5344CB8AC3E}">
        <p14:creationId xmlns:p14="http://schemas.microsoft.com/office/powerpoint/2010/main" val="23360573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A72F049E-380A-43F4-FF06-1EBD6541CC20}"/>
              </a:ext>
            </a:extLst>
          </p:cNvPr>
          <p:cNvSpPr>
            <a:spLocks noGrp="1"/>
          </p:cNvSpPr>
          <p:nvPr>
            <p:ph idx="1"/>
          </p:nvPr>
        </p:nvSpPr>
        <p:spPr>
          <a:xfrm>
            <a:off x="1049215" y="714486"/>
            <a:ext cx="9601200" cy="3581400"/>
          </a:xfrm>
        </p:spPr>
        <p:txBody>
          <a:bodyPr>
            <a:normAutofit/>
          </a:bodyPr>
          <a:lstStyle/>
          <a:p>
            <a:pPr marL="0" indent="0">
              <a:buNone/>
            </a:pPr>
            <a:r>
              <a:rPr lang="tr-TR" sz="2800" b="1" dirty="0"/>
              <a:t>Sonuç</a:t>
            </a:r>
          </a:p>
          <a:p>
            <a:r>
              <a:rPr lang="tr-TR" dirty="0"/>
              <a:t>Yapılan çalışmada, Ülkemizde yaygın olarak yetiştirilen ve en önemli ihracat ürünlerinden birisi olan kiraz meyvesinin klasik sınıflandırma yöntemleri yerine görüntü işleme teknikleri ile sınıflandırılması sağlanmıştır. Bu sayede önemli ihracat ürünlerinden biri olan kiraz meyvesinin uluslararası standartlara uygun olarak tasnif edilmesi sağlanacak ve ülke ekonomisine katkısı dahada arttırılacaktır. </a:t>
            </a:r>
          </a:p>
          <a:p>
            <a:r>
              <a:rPr lang="tr-TR" dirty="0"/>
              <a:t>Yapılan çalışma ile farklı büyüklükteki meyveler sistem tarafından başarılı bir şekilde değerlendirilerek sınıflandırılmıştır. Bu sayede kalite ve pazarlama için önemli bir etken olan sınıflandırma işlemi gerçekleştirilmiştir</a:t>
            </a:r>
          </a:p>
        </p:txBody>
      </p:sp>
    </p:spTree>
    <p:extLst>
      <p:ext uri="{BB962C8B-B14F-4D97-AF65-F5344CB8AC3E}">
        <p14:creationId xmlns:p14="http://schemas.microsoft.com/office/powerpoint/2010/main" val="3488620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İçerik Yer Tutucusu 2">
            <a:extLst>
              <a:ext uri="{FF2B5EF4-FFF2-40B4-BE49-F238E27FC236}">
                <a16:creationId xmlns:a16="http://schemas.microsoft.com/office/drawing/2014/main" id="{29147D31-89AE-5E26-508B-BADECA4C5496}"/>
              </a:ext>
            </a:extLst>
          </p:cNvPr>
          <p:cNvSpPr>
            <a:spLocks noGrp="1"/>
          </p:cNvSpPr>
          <p:nvPr>
            <p:ph idx="1"/>
          </p:nvPr>
        </p:nvSpPr>
        <p:spPr>
          <a:xfrm>
            <a:off x="1408113" y="706438"/>
            <a:ext cx="9601200" cy="3581400"/>
          </a:xfrm>
        </p:spPr>
        <p:txBody>
          <a:bodyPr/>
          <a:lstStyle/>
          <a:p>
            <a:pPr marL="0" indent="0">
              <a:buNone/>
            </a:pPr>
            <a:r>
              <a:rPr lang="tr-TR" sz="2800" b="1" dirty="0"/>
              <a:t>KAYNAKÇA</a:t>
            </a:r>
          </a:p>
          <a:p>
            <a:r>
              <a:rPr lang="tr-TR" dirty="0"/>
              <a:t>https://dergipark.org.tr/en/download/article-file/1316559</a:t>
            </a:r>
          </a:p>
        </p:txBody>
      </p:sp>
    </p:spTree>
    <p:extLst>
      <p:ext uri="{BB962C8B-B14F-4D97-AF65-F5344CB8AC3E}">
        <p14:creationId xmlns:p14="http://schemas.microsoft.com/office/powerpoint/2010/main" val="35207236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İçerik Yer Tutucusu 2">
            <a:extLst>
              <a:ext uri="{FF2B5EF4-FFF2-40B4-BE49-F238E27FC236}">
                <a16:creationId xmlns:a16="http://schemas.microsoft.com/office/drawing/2014/main" id="{36E456FB-65DB-7CEA-3000-E3F77B393A8B}"/>
              </a:ext>
            </a:extLst>
          </p:cNvPr>
          <p:cNvSpPr>
            <a:spLocks noGrp="1"/>
          </p:cNvSpPr>
          <p:nvPr>
            <p:ph idx="1"/>
          </p:nvPr>
        </p:nvSpPr>
        <p:spPr>
          <a:xfrm>
            <a:off x="1295400" y="1029999"/>
            <a:ext cx="9601200" cy="3581400"/>
          </a:xfrm>
        </p:spPr>
        <p:txBody>
          <a:bodyPr>
            <a:normAutofit/>
          </a:bodyPr>
          <a:lstStyle/>
          <a:p>
            <a:r>
              <a:rPr lang="tr-TR" sz="2800" b="1" dirty="0"/>
              <a:t>DİNLEDİĞİNİZ İÇİN TEŞEKKÜR EDERİM </a:t>
            </a:r>
          </a:p>
        </p:txBody>
      </p:sp>
    </p:spTree>
    <p:extLst>
      <p:ext uri="{BB962C8B-B14F-4D97-AF65-F5344CB8AC3E}">
        <p14:creationId xmlns:p14="http://schemas.microsoft.com/office/powerpoint/2010/main" val="54329363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Tahta Yazı">
  <a:themeElements>
    <a:clrScheme name="Tahta Yazı">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Tahta Yazı">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Tahta Yazı">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docProps/app.xml><?xml version="1.0" encoding="utf-8"?>
<Properties xmlns="http://schemas.openxmlformats.org/officeDocument/2006/extended-properties" xmlns:vt="http://schemas.openxmlformats.org/officeDocument/2006/docPropsVTypes">
  <Template>TM03090434[[fn=Tahta Yazı]]</Template>
  <TotalTime>54</TotalTime>
  <Words>601</Words>
  <Application>Microsoft Office PowerPoint</Application>
  <PresentationFormat>Geniş ekran</PresentationFormat>
  <Paragraphs>26</Paragraphs>
  <Slides>13</Slides>
  <Notes>0</Notes>
  <HiddenSlides>0</HiddenSlides>
  <MMClips>0</MMClips>
  <ScaleCrop>false</ScaleCrop>
  <HeadingPairs>
    <vt:vector size="6" baseType="variant">
      <vt:variant>
        <vt:lpstr>Kullanılan Yazı Tipleri</vt:lpstr>
      </vt:variant>
      <vt:variant>
        <vt:i4>4</vt:i4>
      </vt:variant>
      <vt:variant>
        <vt:lpstr>Tema</vt:lpstr>
      </vt:variant>
      <vt:variant>
        <vt:i4>1</vt:i4>
      </vt:variant>
      <vt:variant>
        <vt:lpstr>Slayt Başlıkları</vt:lpstr>
      </vt:variant>
      <vt:variant>
        <vt:i4>13</vt:i4>
      </vt:variant>
    </vt:vector>
  </HeadingPairs>
  <TitlesOfParts>
    <vt:vector size="18" baseType="lpstr">
      <vt:lpstr>Bahnschrift</vt:lpstr>
      <vt:lpstr>Rockwell</vt:lpstr>
      <vt:lpstr>Rockwell Condensed</vt:lpstr>
      <vt:lpstr>Wingdings</vt:lpstr>
      <vt:lpstr>Tahta Yazı</vt:lpstr>
      <vt:lpstr>Görüntü İşleme Yöntemleri Kullanılarak Kiraz Meyvesinin Sınıflandırılması</vt:lpstr>
      <vt:lpstr>PowerPoint Sunusu</vt:lpstr>
      <vt:lpstr>Materyal ve Metot</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Görüntü İşleme Yöntemleri Kullanılarak Kiraz Meyvesinin Sınıflandırılması</dc:title>
  <dc:creator>Senanur paksoy</dc:creator>
  <cp:lastModifiedBy>Senanur paksoy</cp:lastModifiedBy>
  <cp:revision>3</cp:revision>
  <dcterms:created xsi:type="dcterms:W3CDTF">2022-11-15T21:20:59Z</dcterms:created>
  <dcterms:modified xsi:type="dcterms:W3CDTF">2022-11-16T14:36:38Z</dcterms:modified>
</cp:coreProperties>
</file>
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1EFC202-939F-4C1B-89D7-835F25E3EABC}" type="datetimeFigureOut">
              <a:rPr lang="tr-TR" smtClean="0"/>
              <a:t>8.11.2022</a:t>
            </a:fld>
            <a:endParaRPr lang="tr-T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tr-T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F29722F7-6C21-4737-836F-3D0D1B9C4898}"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348455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1EFC202-939F-4C1B-89D7-835F25E3EABC}"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166316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1EFC202-939F-4C1B-89D7-835F25E3EABC}"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29722F7-6C21-4737-836F-3D0D1B9C4898}"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51486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1EFC202-939F-4C1B-89D7-835F25E3EABC}"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4063392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tr-TR"/>
              <a:t>Asıl metin stillerini düzenlemek için tıklayın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1EFC202-939F-4C1B-89D7-835F25E3EABC}" type="datetimeFigureOut">
              <a:rPr lang="tr-TR" smtClean="0"/>
              <a:t>8.11.2022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280079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1EFC202-939F-4C1B-89D7-835F25E3EABC}" type="datetimeFigureOut">
              <a:rPr lang="tr-TR" smtClean="0"/>
              <a:t>8.11.2022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772136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EFC202-939F-4C1B-89D7-835F25E3EABC}" type="datetimeFigureOut">
              <a:rPr lang="tr-TR" smtClean="0"/>
              <a:t>8.11.2022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92023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tr-TR"/>
              <a:t>Asıl başlık stilini düzenlemek için tıklayın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1EFC202-939F-4C1B-89D7-835F25E3EABC}"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307569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1EFC202-939F-4C1B-89D7-835F25E3EABC}" type="datetimeFigureOut">
              <a:rPr lang="tr-TR" smtClean="0"/>
              <a:t>8.11.2022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2907364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1EFC202-939F-4C1B-89D7-835F25E3EABC}"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1643996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1EFC202-939F-4C1B-89D7-835F25E3EABC}" type="datetimeFigureOut">
              <a:rPr lang="tr-TR" smtClean="0"/>
              <a:t>8.11.2022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29722F7-6C21-4737-836F-3D0D1B9C4898}" type="slidenum">
              <a:rPr lang="tr-TR" smtClean="0"/>
              <a:t>‹#›</a:t>
            </a:fld>
            <a:endParaRPr lang="tr-TR"/>
          </a:p>
        </p:txBody>
      </p:sp>
    </p:spTree>
    <p:extLst>
      <p:ext uri="{BB962C8B-B14F-4D97-AF65-F5344CB8AC3E}">
        <p14:creationId xmlns:p14="http://schemas.microsoft.com/office/powerpoint/2010/main" val="561659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1EFC202-939F-4C1B-89D7-835F25E3EABC}" type="datetimeFigureOut">
              <a:rPr lang="tr-TR" smtClean="0"/>
              <a:t>8.11.2022</a:t>
            </a:fld>
            <a:endParaRPr lang="tr-T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tr-T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F29722F7-6C21-4737-836F-3D0D1B9C4898}" type="slidenum">
              <a:rPr lang="tr-TR" smtClean="0"/>
              <a:t>‹#›</a:t>
            </a:fld>
            <a:endParaRPr lang="tr-TR"/>
          </a:p>
        </p:txBody>
      </p:sp>
    </p:spTree>
    <p:extLst>
      <p:ext uri="{BB962C8B-B14F-4D97-AF65-F5344CB8AC3E}">
        <p14:creationId xmlns:p14="http://schemas.microsoft.com/office/powerpoint/2010/main" val="2849411804"/>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917795-7538-981F-99F9-605AC4E27529}"/>
              </a:ext>
            </a:extLst>
          </p:cNvPr>
          <p:cNvSpPr>
            <a:spLocks noGrp="1"/>
          </p:cNvSpPr>
          <p:nvPr>
            <p:ph type="ctrTitle"/>
          </p:nvPr>
        </p:nvSpPr>
        <p:spPr>
          <a:xfrm>
            <a:off x="1173018" y="1043709"/>
            <a:ext cx="9982662" cy="3281403"/>
          </a:xfrm>
        </p:spPr>
        <p:txBody>
          <a:bodyPr>
            <a:normAutofit/>
          </a:bodyPr>
          <a:lstStyle/>
          <a:p>
            <a:r>
              <a:rPr lang="tr-TR" sz="6000" dirty="0">
                <a:latin typeface="Franklin Gothic Demi Cond" panose="020B0706030402020204" pitchFamily="34" charset="0"/>
              </a:rPr>
              <a:t>GÖRÜNTÜ İŞLEME TEKNİKLERİ KULLANILARAK EKMEK DOKU ANALİZİ VE ARAYÜZ PROGRAMININ GELİŞTİRİLMESİ </a:t>
            </a:r>
            <a:endParaRPr lang="tr-TR" sz="6000" dirty="0"/>
          </a:p>
        </p:txBody>
      </p:sp>
      <p:sp>
        <p:nvSpPr>
          <p:cNvPr id="3" name="Alt Başlık 2">
            <a:extLst>
              <a:ext uri="{FF2B5EF4-FFF2-40B4-BE49-F238E27FC236}">
                <a16:creationId xmlns:a16="http://schemas.microsoft.com/office/drawing/2014/main" id="{5E99BF96-9B38-8E49-D7C8-26314D682EE6}"/>
              </a:ext>
            </a:extLst>
          </p:cNvPr>
          <p:cNvSpPr>
            <a:spLocks noGrp="1"/>
          </p:cNvSpPr>
          <p:nvPr>
            <p:ph type="subTitle" idx="1"/>
          </p:nvPr>
        </p:nvSpPr>
        <p:spPr/>
        <p:txBody>
          <a:bodyPr/>
          <a:lstStyle/>
          <a:p>
            <a:r>
              <a:rPr lang="tr-TR" dirty="0"/>
              <a:t>                                      AHMET FARUK PALA</a:t>
            </a:r>
          </a:p>
          <a:p>
            <a:r>
              <a:rPr lang="tr-TR" dirty="0"/>
              <a:t>                                             02180201008</a:t>
            </a:r>
          </a:p>
        </p:txBody>
      </p:sp>
    </p:spTree>
    <p:extLst>
      <p:ext uri="{BB962C8B-B14F-4D97-AF65-F5344CB8AC3E}">
        <p14:creationId xmlns:p14="http://schemas.microsoft.com/office/powerpoint/2010/main" val="2572380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BD7BBFA-371E-E68F-C6E4-27101C830BAD}"/>
              </a:ext>
            </a:extLst>
          </p:cNvPr>
          <p:cNvSpPr>
            <a:spLocks noGrp="1"/>
          </p:cNvSpPr>
          <p:nvPr>
            <p:ph idx="1"/>
          </p:nvPr>
        </p:nvSpPr>
        <p:spPr>
          <a:xfrm>
            <a:off x="774008" y="628073"/>
            <a:ext cx="10058400" cy="5398039"/>
          </a:xfrm>
        </p:spPr>
        <p:txBody>
          <a:bodyPr/>
          <a:lstStyle/>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Öz miktarı ve kalitesi yetersiz olan unlardan yapılan ekmekler, küçük hacimli, basık ve düzensiz bir gözenek yapısına sahip olmakta, kabuk yapılarında düzensiz çatlak ve yarıklar bulunmakta, ayrıca bu tip ekmekler kısa sürede bayatlamaktadır. Ancak öz miktarı yetersiz olan unlara uygun miktarda katkı maddesi ilavesi yapılarak üretilen ekmeklerin raf ömrü uzar, hacmi artar, ekmek içlerinin gözenek yapıları iyileşir, dokuları ve yumuşaklıkları daha iyi olur.</a:t>
            </a:r>
          </a:p>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Yapılan bu çalışmada görüntü işleme teknikleri kullanılarak ekmek gözenekleri bölütlenmiş. Bu sayede ekmek doku özellikleri belirlenerek katkı maddesinin cinsine, miktarına bağlı olarak ekmek yapısında meydana gelen değişimler ve gözeneklere ait sayısal veriler elde edilerek belirlenmiş. </a:t>
            </a:r>
          </a:p>
          <a:p>
            <a:pPr>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Çalışmada, DATEM katkı maddesi ile FL ve GL enzimlerinin doğrudan ekmek yapım yöntemiyle elde edilen ekmeklerde kaliteye etkisi belirlenmiş. Uzman gıda mühendisinin gözetiminde farklı katkı maddelerinin ekmek gözenek dokusunu ne şekilde etkilediği analitik olarak incelenmiş.</a:t>
            </a:r>
          </a:p>
          <a:p>
            <a:pPr marL="0" indent="0">
              <a:buNone/>
            </a:pPr>
            <a:endParaRPr lang="tr-TR" dirty="0"/>
          </a:p>
        </p:txBody>
      </p:sp>
    </p:spTree>
    <p:extLst>
      <p:ext uri="{BB962C8B-B14F-4D97-AF65-F5344CB8AC3E}">
        <p14:creationId xmlns:p14="http://schemas.microsoft.com/office/powerpoint/2010/main" val="2513893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E2885E-1E1F-CD96-0D7A-1C7CD4EADCAD}"/>
              </a:ext>
            </a:extLst>
          </p:cNvPr>
          <p:cNvSpPr>
            <a:spLocks noGrp="1"/>
          </p:cNvSpPr>
          <p:nvPr>
            <p:ph type="title"/>
          </p:nvPr>
        </p:nvSpPr>
        <p:spPr/>
        <p:txBody>
          <a:bodyPr/>
          <a:lstStyle/>
          <a:p>
            <a:r>
              <a:rPr lang="tr-TR" sz="4400" dirty="0">
                <a:effectLst/>
                <a:latin typeface="Calibri" panose="020F0502020204030204" pitchFamily="34" charset="0"/>
                <a:ea typeface="Calibri" panose="020F0502020204030204" pitchFamily="34" charset="0"/>
                <a:cs typeface="Times New Roman" panose="02020603050405020304" pitchFamily="18" charset="0"/>
              </a:rPr>
              <a:t>DENEYSEL METOT</a:t>
            </a:r>
            <a:endParaRPr lang="tr-TR" dirty="0"/>
          </a:p>
        </p:txBody>
      </p:sp>
      <p:sp>
        <p:nvSpPr>
          <p:cNvPr id="3" name="İçerik Yer Tutucusu 2">
            <a:extLst>
              <a:ext uri="{FF2B5EF4-FFF2-40B4-BE49-F238E27FC236}">
                <a16:creationId xmlns:a16="http://schemas.microsoft.com/office/drawing/2014/main" id="{077CFCF3-C0EE-53D5-DCD2-978C5F37500B}"/>
              </a:ext>
            </a:extLst>
          </p:cNvPr>
          <p:cNvSpPr>
            <a:spLocks noGrp="1"/>
          </p:cNvSpPr>
          <p:nvPr>
            <p:ph idx="1"/>
          </p:nvPr>
        </p:nvSpPr>
        <p:spPr/>
        <p:txBody>
          <a:bodyPr/>
          <a:lstStyle/>
          <a:p>
            <a:pPr marL="0" indent="0">
              <a:buNone/>
            </a:pPr>
            <a:r>
              <a:rPr lang="tr-TR" sz="2800" dirty="0"/>
              <a:t>1-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Veri Kümesi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Analiz edilecek ekmekler önce, dilimleme makinesinde 25 mm kalınlıkta kesilmiş ve her bir ekmeğin ortasındaki iki dilim analizlerde kullanılmak üzere ayrılmıştır. Görüntü işleme için belirlenen bu iki dilim görüntüsü bilgisayara aktarılmış. Tarayıcının parlaklık ve kontrast parametreleri, tüm görüntüler için sıfıra ayarlanmış. Görüntüler, 300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DPI’da</a:t>
            </a:r>
            <a:r>
              <a:rPr lang="tr-TR" sz="1800" dirty="0">
                <a:effectLst/>
                <a:latin typeface="Calibri" panose="020F0502020204030204" pitchFamily="34" charset="0"/>
                <a:ea typeface="Calibri" panose="020F0502020204030204" pitchFamily="34" charset="0"/>
                <a:cs typeface="Times New Roman" panose="02020603050405020304" pitchFamily="18" charset="0"/>
              </a:rPr>
              <a:t> ve RGB renkli olarak BMP formatında 3508*2552 piksel olarak bilgisayara kaydedilmiş.</a:t>
            </a:r>
          </a:p>
          <a:p>
            <a:pPr marL="228600">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Çalışmada 104 farklı ekmek görüntüsü kullanılmış ve bunların 8 tanesi kontrol grubunu oluşturmuş. Bu kontrol grubunu oluşturan ekmeklerin yapımında hiçbir katkı maddesi kullanılmamış. 32 tanesi ise DATEM katkı maddesinin (%0,25, %0,50, %0,75, %1,00) farklı konsantrasyonundan, 32 tanesi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lipopan</a:t>
            </a:r>
            <a:r>
              <a:rPr lang="tr-TR" sz="1800" dirty="0">
                <a:effectLst/>
                <a:latin typeface="Calibri" panose="020F0502020204030204" pitchFamily="34" charset="0"/>
                <a:ea typeface="Calibri" panose="020F0502020204030204" pitchFamily="34" charset="0"/>
                <a:cs typeface="Times New Roman" panose="02020603050405020304" pitchFamily="18" charset="0"/>
              </a:rPr>
              <a:t> FBG fosfolipaz (FL) enziminin (10, 20, 30, 40 mg/kg) konsantrasyonlarından ve 32 tanesi ise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grindamyl</a:t>
            </a:r>
            <a:r>
              <a:rPr lang="tr-TR" sz="1800" dirty="0">
                <a:effectLst/>
                <a:latin typeface="Calibri" panose="020F0502020204030204" pitchFamily="34" charset="0"/>
                <a:ea typeface="Calibri" panose="020F0502020204030204" pitchFamily="34" charset="0"/>
                <a:cs typeface="Times New Roman" panose="02020603050405020304" pitchFamily="18" charset="0"/>
              </a:rPr>
              <a:t>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glikolipaz</a:t>
            </a:r>
            <a:r>
              <a:rPr lang="tr-TR" sz="1800" dirty="0">
                <a:effectLst/>
                <a:latin typeface="Calibri" panose="020F0502020204030204" pitchFamily="34" charset="0"/>
                <a:ea typeface="Calibri" panose="020F0502020204030204" pitchFamily="34" charset="0"/>
                <a:cs typeface="Times New Roman" panose="02020603050405020304" pitchFamily="18" charset="0"/>
              </a:rPr>
              <a:t> (GL) enziminin (30, 60, 90, 120 mg/kg) konsantrasyonlarından oluşmakta.</a:t>
            </a:r>
            <a:endParaRPr lang="tr-TR" dirty="0"/>
          </a:p>
        </p:txBody>
      </p:sp>
    </p:spTree>
    <p:extLst>
      <p:ext uri="{BB962C8B-B14F-4D97-AF65-F5344CB8AC3E}">
        <p14:creationId xmlns:p14="http://schemas.microsoft.com/office/powerpoint/2010/main" val="192333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3D8A0F31-8147-8F01-E84D-05C5E3819251}"/>
              </a:ext>
            </a:extLst>
          </p:cNvPr>
          <p:cNvPicPr>
            <a:picLocks noChangeAspect="1"/>
          </p:cNvPicPr>
          <p:nvPr/>
        </p:nvPicPr>
        <p:blipFill>
          <a:blip r:embed="rId2"/>
          <a:stretch>
            <a:fillRect/>
          </a:stretch>
        </p:blipFill>
        <p:spPr>
          <a:xfrm>
            <a:off x="1693811" y="716650"/>
            <a:ext cx="4282116" cy="5424699"/>
          </a:xfrm>
          <a:prstGeom prst="rect">
            <a:avLst/>
          </a:prstGeom>
        </p:spPr>
      </p:pic>
      <p:pic>
        <p:nvPicPr>
          <p:cNvPr id="6" name="Resim 5">
            <a:extLst>
              <a:ext uri="{FF2B5EF4-FFF2-40B4-BE49-F238E27FC236}">
                <a16:creationId xmlns:a16="http://schemas.microsoft.com/office/drawing/2014/main" id="{6FDCB7E8-3028-768B-CE21-772DC1B69542}"/>
              </a:ext>
            </a:extLst>
          </p:cNvPr>
          <p:cNvPicPr>
            <a:picLocks noChangeAspect="1"/>
          </p:cNvPicPr>
          <p:nvPr/>
        </p:nvPicPr>
        <p:blipFill>
          <a:blip r:embed="rId3"/>
          <a:stretch>
            <a:fillRect/>
          </a:stretch>
        </p:blipFill>
        <p:spPr>
          <a:xfrm>
            <a:off x="6216075" y="716650"/>
            <a:ext cx="3408216" cy="5417355"/>
          </a:xfrm>
          <a:prstGeom prst="rect">
            <a:avLst/>
          </a:prstGeom>
        </p:spPr>
      </p:pic>
    </p:spTree>
    <p:extLst>
      <p:ext uri="{BB962C8B-B14F-4D97-AF65-F5344CB8AC3E}">
        <p14:creationId xmlns:p14="http://schemas.microsoft.com/office/powerpoint/2010/main" val="389410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948D7DB-0258-C17A-5B3C-8BC4038BE5E3}"/>
              </a:ext>
            </a:extLst>
          </p:cNvPr>
          <p:cNvSpPr>
            <a:spLocks noGrp="1"/>
          </p:cNvSpPr>
          <p:nvPr>
            <p:ph idx="1"/>
          </p:nvPr>
        </p:nvSpPr>
        <p:spPr>
          <a:xfrm>
            <a:off x="1123326" y="526473"/>
            <a:ext cx="8595360" cy="2013527"/>
          </a:xfrm>
        </p:spPr>
        <p:txBody>
          <a:bodyPr/>
          <a:lstStyle/>
          <a:p>
            <a:pPr marL="0" indent="0">
              <a:buNone/>
            </a:pPr>
            <a:r>
              <a:rPr lang="tr-TR" sz="2800" dirty="0"/>
              <a:t>2-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Yöntemler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104 adet ekmek görüntüsü gri seviye görüntüsüne dönüştürülmüş. Ekmek gözeneklerinin otomatik bölütlenmesi temelli bir ekmek doku analizi yapılmış. Gerçekleştirilen bölütlemenin başarımı da elle belirlenen gözenek görüntüleri kullanılarak ZSI başarım belirleme indeksine göre test edilmiş.</a:t>
            </a:r>
            <a:endParaRPr lang="tr-TR" dirty="0"/>
          </a:p>
          <a:p>
            <a:endParaRPr lang="tr-TR" dirty="0"/>
          </a:p>
        </p:txBody>
      </p:sp>
      <p:pic>
        <p:nvPicPr>
          <p:cNvPr id="6" name="Resim 5">
            <a:extLst>
              <a:ext uri="{FF2B5EF4-FFF2-40B4-BE49-F238E27FC236}">
                <a16:creationId xmlns:a16="http://schemas.microsoft.com/office/drawing/2014/main" id="{9B1B696C-67AD-1A18-7962-5B9E2BA1D011}"/>
              </a:ext>
            </a:extLst>
          </p:cNvPr>
          <p:cNvPicPr>
            <a:picLocks noChangeAspect="1"/>
          </p:cNvPicPr>
          <p:nvPr/>
        </p:nvPicPr>
        <p:blipFill>
          <a:blip r:embed="rId2"/>
          <a:stretch>
            <a:fillRect/>
          </a:stretch>
        </p:blipFill>
        <p:spPr>
          <a:xfrm>
            <a:off x="1705450" y="2621357"/>
            <a:ext cx="3601718" cy="4063924"/>
          </a:xfrm>
          <a:prstGeom prst="rect">
            <a:avLst/>
          </a:prstGeom>
        </p:spPr>
      </p:pic>
      <p:pic>
        <p:nvPicPr>
          <p:cNvPr id="7" name="Resim 6">
            <a:extLst>
              <a:ext uri="{FF2B5EF4-FFF2-40B4-BE49-F238E27FC236}">
                <a16:creationId xmlns:a16="http://schemas.microsoft.com/office/drawing/2014/main" id="{877DC3D3-0777-42F0-A7BA-1E65D1D3A420}"/>
              </a:ext>
            </a:extLst>
          </p:cNvPr>
          <p:cNvPicPr>
            <a:picLocks noChangeAspect="1"/>
          </p:cNvPicPr>
          <p:nvPr/>
        </p:nvPicPr>
        <p:blipFill>
          <a:blip r:embed="rId3"/>
          <a:stretch>
            <a:fillRect/>
          </a:stretch>
        </p:blipFill>
        <p:spPr>
          <a:xfrm>
            <a:off x="6116969" y="2611799"/>
            <a:ext cx="3601717" cy="3791736"/>
          </a:xfrm>
          <a:prstGeom prst="rect">
            <a:avLst/>
          </a:prstGeom>
        </p:spPr>
      </p:pic>
    </p:spTree>
    <p:extLst>
      <p:ext uri="{BB962C8B-B14F-4D97-AF65-F5344CB8AC3E}">
        <p14:creationId xmlns:p14="http://schemas.microsoft.com/office/powerpoint/2010/main" val="47656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31BF774-08CD-EA11-328A-9AC212E30DB1}"/>
              </a:ext>
            </a:extLst>
          </p:cNvPr>
          <p:cNvSpPr>
            <a:spLocks noGrp="1"/>
          </p:cNvSpPr>
          <p:nvPr>
            <p:ph idx="1"/>
          </p:nvPr>
        </p:nvSpPr>
        <p:spPr>
          <a:xfrm>
            <a:off x="1151035" y="503658"/>
            <a:ext cx="8595360" cy="1745673"/>
          </a:xfrm>
        </p:spPr>
        <p:txBody>
          <a:bodyPr/>
          <a:lstStyle/>
          <a:p>
            <a:pPr marL="0" indent="0">
              <a:buNone/>
            </a:pPr>
            <a:r>
              <a:rPr lang="tr-TR" sz="2800" dirty="0"/>
              <a:t>3-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Histogram Germe </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germe işlemi düşük kontrastlı resimlere uygulanan bir yöntem olup histogramı geniş bir bölgeye yayma mantığına dayanmakta. Ön işlemenin ilk basamağını oluşturan bu yöntem sayesinde gri seviye görüntülerinin kontrastı iyileştirilmiş.</a:t>
            </a:r>
            <a:endParaRPr lang="tr-TR" dirty="0"/>
          </a:p>
          <a:p>
            <a:endParaRPr lang="tr-TR" dirty="0"/>
          </a:p>
        </p:txBody>
      </p:sp>
      <p:pic>
        <p:nvPicPr>
          <p:cNvPr id="4" name="Resim 3">
            <a:extLst>
              <a:ext uri="{FF2B5EF4-FFF2-40B4-BE49-F238E27FC236}">
                <a16:creationId xmlns:a16="http://schemas.microsoft.com/office/drawing/2014/main" id="{D338D0CD-5431-1DE7-B1F0-AB46F48477C0}"/>
              </a:ext>
            </a:extLst>
          </p:cNvPr>
          <p:cNvPicPr>
            <a:picLocks noChangeAspect="1"/>
          </p:cNvPicPr>
          <p:nvPr/>
        </p:nvPicPr>
        <p:blipFill>
          <a:blip r:embed="rId2"/>
          <a:stretch>
            <a:fillRect/>
          </a:stretch>
        </p:blipFill>
        <p:spPr>
          <a:xfrm>
            <a:off x="6096000" y="2184676"/>
            <a:ext cx="3467700" cy="3467700"/>
          </a:xfrm>
          <a:prstGeom prst="rect">
            <a:avLst/>
          </a:prstGeom>
        </p:spPr>
      </p:pic>
      <p:pic>
        <p:nvPicPr>
          <p:cNvPr id="5" name="Resim 4">
            <a:extLst>
              <a:ext uri="{FF2B5EF4-FFF2-40B4-BE49-F238E27FC236}">
                <a16:creationId xmlns:a16="http://schemas.microsoft.com/office/drawing/2014/main" id="{3BB0C96D-B35E-5DF7-85D0-BC9BE2FF4B52}"/>
              </a:ext>
            </a:extLst>
          </p:cNvPr>
          <p:cNvPicPr>
            <a:picLocks noChangeAspect="1"/>
          </p:cNvPicPr>
          <p:nvPr/>
        </p:nvPicPr>
        <p:blipFill>
          <a:blip r:embed="rId3"/>
          <a:stretch>
            <a:fillRect/>
          </a:stretch>
        </p:blipFill>
        <p:spPr>
          <a:xfrm>
            <a:off x="1674810" y="2041236"/>
            <a:ext cx="3543224" cy="4137891"/>
          </a:xfrm>
          <a:prstGeom prst="rect">
            <a:avLst/>
          </a:prstGeom>
        </p:spPr>
      </p:pic>
    </p:spTree>
    <p:extLst>
      <p:ext uri="{BB962C8B-B14F-4D97-AF65-F5344CB8AC3E}">
        <p14:creationId xmlns:p14="http://schemas.microsoft.com/office/powerpoint/2010/main" val="106498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7F60B9A-36AF-4121-17DD-822235937779}"/>
              </a:ext>
            </a:extLst>
          </p:cNvPr>
          <p:cNvSpPr>
            <a:spLocks noGrp="1"/>
          </p:cNvSpPr>
          <p:nvPr>
            <p:ph idx="1"/>
          </p:nvPr>
        </p:nvSpPr>
        <p:spPr>
          <a:xfrm>
            <a:off x="1215690" y="464486"/>
            <a:ext cx="8595360" cy="2515576"/>
          </a:xfrm>
        </p:spPr>
        <p:txBody>
          <a:bodyPr>
            <a:normAutofit lnSpcReduction="10000"/>
          </a:bodyPr>
          <a:lstStyle/>
          <a:p>
            <a:pPr marL="0" indent="0">
              <a:buNone/>
            </a:pPr>
            <a:r>
              <a:rPr lang="tr-TR" sz="2800" dirty="0">
                <a:effectLst/>
                <a:ea typeface="Calibri" panose="020F0502020204030204" pitchFamily="34" charset="0"/>
                <a:cs typeface="Times New Roman" panose="02020603050405020304" pitchFamily="18" charset="0"/>
              </a:rPr>
              <a:t>4-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Histogram Eşitleme</a:t>
            </a:r>
          </a:p>
          <a:p>
            <a:pPr marL="179705">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eşitleme renk değerleri düzgün dağılımlı olmayan görüntüler için uygun bir görüntü iyileştirme metodudur. Bu işlemin uygulanması sonucunda ekmek dokularının açık renkte, gözeneklerin ise koyu renkte olduğu görülmekte.</a:t>
            </a:r>
          </a:p>
          <a:p>
            <a:pPr marL="179705">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 Histogram eşitleme işleminden sonra ön işleme aşaması bitmiş ve gözeneklerin bölütlenmesiyle görüntü işleme aşamasına geçmişler.</a:t>
            </a:r>
          </a:p>
          <a:p>
            <a:pPr marL="0" indent="0">
              <a:buNone/>
            </a:pPr>
            <a:endParaRPr lang="tr-TR" dirty="0"/>
          </a:p>
          <a:p>
            <a:endParaRPr lang="tr-TR" dirty="0"/>
          </a:p>
        </p:txBody>
      </p:sp>
      <p:pic>
        <p:nvPicPr>
          <p:cNvPr id="7" name="Resim 6">
            <a:extLst>
              <a:ext uri="{FF2B5EF4-FFF2-40B4-BE49-F238E27FC236}">
                <a16:creationId xmlns:a16="http://schemas.microsoft.com/office/drawing/2014/main" id="{F3C15A2E-462F-A2FC-25C1-78F35D16F1E6}"/>
              </a:ext>
            </a:extLst>
          </p:cNvPr>
          <p:cNvPicPr>
            <a:picLocks noChangeAspect="1"/>
          </p:cNvPicPr>
          <p:nvPr/>
        </p:nvPicPr>
        <p:blipFill>
          <a:blip r:embed="rId2"/>
          <a:stretch>
            <a:fillRect/>
          </a:stretch>
        </p:blipFill>
        <p:spPr>
          <a:xfrm>
            <a:off x="1590622" y="2672164"/>
            <a:ext cx="3645333" cy="4121181"/>
          </a:xfrm>
          <a:prstGeom prst="rect">
            <a:avLst/>
          </a:prstGeom>
        </p:spPr>
      </p:pic>
      <p:pic>
        <p:nvPicPr>
          <p:cNvPr id="8" name="Resim 7">
            <a:extLst>
              <a:ext uri="{FF2B5EF4-FFF2-40B4-BE49-F238E27FC236}">
                <a16:creationId xmlns:a16="http://schemas.microsoft.com/office/drawing/2014/main" id="{3E7FA4EC-4232-0D05-1EDB-C49B1CEB75DF}"/>
              </a:ext>
            </a:extLst>
          </p:cNvPr>
          <p:cNvPicPr>
            <a:picLocks noChangeAspect="1"/>
          </p:cNvPicPr>
          <p:nvPr/>
        </p:nvPicPr>
        <p:blipFill>
          <a:blip r:embed="rId3"/>
          <a:stretch>
            <a:fillRect/>
          </a:stretch>
        </p:blipFill>
        <p:spPr>
          <a:xfrm>
            <a:off x="5789074" y="2932066"/>
            <a:ext cx="3101609" cy="3467400"/>
          </a:xfrm>
          <a:prstGeom prst="rect">
            <a:avLst/>
          </a:prstGeom>
        </p:spPr>
      </p:pic>
    </p:spTree>
    <p:extLst>
      <p:ext uri="{BB962C8B-B14F-4D97-AF65-F5344CB8AC3E}">
        <p14:creationId xmlns:p14="http://schemas.microsoft.com/office/powerpoint/2010/main" val="35883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D086D7E5-2C1A-9421-BCE0-75060FB50FBC}"/>
              </a:ext>
            </a:extLst>
          </p:cNvPr>
          <p:cNvSpPr>
            <a:spLocks noGrp="1"/>
          </p:cNvSpPr>
          <p:nvPr>
            <p:ph idx="1"/>
          </p:nvPr>
        </p:nvSpPr>
        <p:spPr>
          <a:xfrm>
            <a:off x="1111394" y="295563"/>
            <a:ext cx="8915400" cy="2623127"/>
          </a:xfrm>
        </p:spPr>
        <p:txBody>
          <a:bodyPr/>
          <a:lstStyle/>
          <a:p>
            <a:pPr marL="0" indent="0">
              <a:buNone/>
            </a:pPr>
            <a:r>
              <a:rPr lang="tr-TR" sz="2800" dirty="0">
                <a:effectLst/>
                <a:ea typeface="Calibri" panose="020F0502020204030204" pitchFamily="34" charset="0"/>
                <a:cs typeface="Times New Roman" panose="02020603050405020304" pitchFamily="18" charset="0"/>
              </a:rPr>
              <a:t>5-</a:t>
            </a:r>
            <a:r>
              <a:rPr lang="tr-TR" sz="2800" b="1" dirty="0">
                <a:effectLst/>
                <a:latin typeface="Calibri" panose="020F0502020204030204" pitchFamily="34" charset="0"/>
                <a:ea typeface="Calibri" panose="020F0502020204030204" pitchFamily="34" charset="0"/>
                <a:cs typeface="Times New Roman" panose="02020603050405020304" pitchFamily="18" charset="0"/>
              </a:rPr>
              <a:t> Gözeneklerin Otomatik Olarak Bölütlenmesi</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Görüntüler Otsu yöntemiyle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eşiklenerek</a:t>
            </a:r>
            <a:r>
              <a:rPr lang="tr-TR" sz="1800" dirty="0">
                <a:effectLst/>
                <a:latin typeface="Calibri" panose="020F0502020204030204" pitchFamily="34" charset="0"/>
                <a:ea typeface="Calibri" panose="020F0502020204030204" pitchFamily="34" charset="0"/>
                <a:cs typeface="Times New Roman" panose="02020603050405020304" pitchFamily="18" charset="0"/>
              </a:rPr>
              <a:t> ikili görüntü haline dönüştürülmüş. Bu yöntem, gri seviye görüntüler üzerinde uygulanabilen bir eşik belirleme yöntemidir. Bu yöntem kullanılırken m*n boyutlarında görüntünün arka plan ve ön plan olmak üzere iki sınıftan oluştuğu varsayımı yapılır. Bu sayede gözenek içleri doldurulmuş ve en büyük bağlı bileşen yöntemi kullanılarak bölütlenmiş ekmek yüzey görüntüsü elde edilmiş. Böylelikle ekmek dokusu arka plandan ayırt edilmiş. Bu da üzerinde doku analizi yapılacak ekmek yüzeyinin belirlenmesini sağlamış.</a:t>
            </a:r>
          </a:p>
          <a:p>
            <a:pPr marL="0" indent="0">
              <a:buNone/>
            </a:pPr>
            <a:endParaRPr lang="tr-TR" dirty="0"/>
          </a:p>
        </p:txBody>
      </p:sp>
      <p:pic>
        <p:nvPicPr>
          <p:cNvPr id="5" name="Resim 4">
            <a:extLst>
              <a:ext uri="{FF2B5EF4-FFF2-40B4-BE49-F238E27FC236}">
                <a16:creationId xmlns:a16="http://schemas.microsoft.com/office/drawing/2014/main" id="{7DC5DBC9-73C1-29C0-A24F-3E70CD22395E}"/>
              </a:ext>
            </a:extLst>
          </p:cNvPr>
          <p:cNvPicPr>
            <a:picLocks noChangeAspect="1"/>
          </p:cNvPicPr>
          <p:nvPr/>
        </p:nvPicPr>
        <p:blipFill>
          <a:blip r:embed="rId2"/>
          <a:stretch>
            <a:fillRect/>
          </a:stretch>
        </p:blipFill>
        <p:spPr>
          <a:xfrm>
            <a:off x="4242087" y="2943843"/>
            <a:ext cx="3312825" cy="3833857"/>
          </a:xfrm>
          <a:prstGeom prst="rect">
            <a:avLst/>
          </a:prstGeom>
        </p:spPr>
      </p:pic>
      <p:pic>
        <p:nvPicPr>
          <p:cNvPr id="6" name="Resim 5">
            <a:extLst>
              <a:ext uri="{FF2B5EF4-FFF2-40B4-BE49-F238E27FC236}">
                <a16:creationId xmlns:a16="http://schemas.microsoft.com/office/drawing/2014/main" id="{67838BCB-1595-B490-2C41-89759ECBEBD7}"/>
              </a:ext>
            </a:extLst>
          </p:cNvPr>
          <p:cNvPicPr>
            <a:picLocks noChangeAspect="1"/>
          </p:cNvPicPr>
          <p:nvPr/>
        </p:nvPicPr>
        <p:blipFill>
          <a:blip r:embed="rId3"/>
          <a:stretch>
            <a:fillRect/>
          </a:stretch>
        </p:blipFill>
        <p:spPr>
          <a:xfrm>
            <a:off x="7554912" y="2918689"/>
            <a:ext cx="3137844" cy="3859011"/>
          </a:xfrm>
          <a:prstGeom prst="rect">
            <a:avLst/>
          </a:prstGeom>
        </p:spPr>
      </p:pic>
      <p:pic>
        <p:nvPicPr>
          <p:cNvPr id="8" name="Resim 7">
            <a:extLst>
              <a:ext uri="{FF2B5EF4-FFF2-40B4-BE49-F238E27FC236}">
                <a16:creationId xmlns:a16="http://schemas.microsoft.com/office/drawing/2014/main" id="{92733B22-23C2-FC65-DBE6-B0D9050675F0}"/>
              </a:ext>
            </a:extLst>
          </p:cNvPr>
          <p:cNvPicPr>
            <a:picLocks noChangeAspect="1"/>
          </p:cNvPicPr>
          <p:nvPr/>
        </p:nvPicPr>
        <p:blipFill>
          <a:blip r:embed="rId4"/>
          <a:stretch>
            <a:fillRect/>
          </a:stretch>
        </p:blipFill>
        <p:spPr>
          <a:xfrm>
            <a:off x="1041410" y="2918688"/>
            <a:ext cx="3242504" cy="3574475"/>
          </a:xfrm>
          <a:prstGeom prst="rect">
            <a:avLst/>
          </a:prstGeom>
        </p:spPr>
      </p:pic>
    </p:spTree>
    <p:extLst>
      <p:ext uri="{BB962C8B-B14F-4D97-AF65-F5344CB8AC3E}">
        <p14:creationId xmlns:p14="http://schemas.microsoft.com/office/powerpoint/2010/main" val="747003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BF1C1BA8-0FA0-A632-8638-86351B318590}"/>
              </a:ext>
            </a:extLst>
          </p:cNvPr>
          <p:cNvSpPr>
            <a:spLocks noGrp="1"/>
          </p:cNvSpPr>
          <p:nvPr>
            <p:ph idx="1"/>
          </p:nvPr>
        </p:nvSpPr>
        <p:spPr>
          <a:xfrm>
            <a:off x="926667" y="314036"/>
            <a:ext cx="8882351" cy="4285673"/>
          </a:xfrm>
        </p:spPr>
        <p:txBody>
          <a:bodyPr>
            <a:normAutofit fontScale="32500" lnSpcReduction="20000"/>
          </a:bodyPr>
          <a:lstStyle/>
          <a:p>
            <a:pPr marL="0" indent="0">
              <a:buNone/>
            </a:pPr>
            <a:r>
              <a:rPr lang="tr-TR" sz="8600" dirty="0"/>
              <a:t>6- </a:t>
            </a:r>
            <a:r>
              <a:rPr lang="tr-TR" sz="8600" b="1" dirty="0">
                <a:effectLst/>
                <a:latin typeface="Calibri" panose="020F0502020204030204" pitchFamily="34" charset="0"/>
                <a:ea typeface="Calibri" panose="020F0502020204030204" pitchFamily="34" charset="0"/>
                <a:cs typeface="Times New Roman" panose="02020603050405020304" pitchFamily="18" charset="0"/>
              </a:rPr>
              <a:t>Bağlantılı Bileşen Etiketleme İle Gözenek Etiketleme</a:t>
            </a:r>
            <a:endParaRPr lang="tr-TR" sz="8600" dirty="0">
              <a:effectLst/>
              <a:latin typeface="Calibri" panose="020F0502020204030204" pitchFamily="34" charset="0"/>
              <a:ea typeface="Calibri" panose="020F0502020204030204" pitchFamily="34" charset="0"/>
              <a:cs typeface="Times New Roman" panose="02020603050405020304" pitchFamily="18" charset="0"/>
            </a:endParaRPr>
          </a:p>
          <a:p>
            <a:pPr marL="179705">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İkili görüntü haline gelen bölütlenmiş gözenek görüntülerine Bağlantılı Bileşen Etiketleme (BBE) yöntemi uygulanmış. BBE siyah-beyaz görüntüler üzerine uygulanmakta olup birbiri ile 4’lü ya da 8’li komşuluğa sahip piksellerin bir grup içerisinde toplanmasını sağlayan bir işlem. Bu gruplama sonucunda, resim üzerindeki her bir grup bir nesneyi temsil edecek şekilde numaralandırılmış ve her piksele aşağıdaki algoritma uygulanmış.</a:t>
            </a:r>
          </a:p>
          <a:p>
            <a:pPr marL="179705" algn="just">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{Piksel Siyaha eşit değilse</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-Pikselin Tüm komşularına bak (8’li komşuluk için)</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-Tüm komşular siyah veya beyaz ise bu yeni bir pikseldir bu piksele yeni bir değer ata, diğer piksele geç</a:t>
            </a:r>
          </a:p>
          <a:p>
            <a:pPr marL="0" indent="0" algn="just">
              <a:lnSpc>
                <a:spcPct val="107000"/>
              </a:lnSpc>
              <a:spcAft>
                <a:spcPts val="800"/>
              </a:spcAft>
              <a:buNone/>
            </a:pPr>
            <a:r>
              <a:rPr lang="tr-TR" sz="4500" dirty="0">
                <a:effectLst/>
                <a:latin typeface="Calibri" panose="020F0502020204030204" pitchFamily="34" charset="0"/>
                <a:ea typeface="Calibri" panose="020F0502020204030204" pitchFamily="34" charset="0"/>
                <a:cs typeface="Times New Roman" panose="02020603050405020304" pitchFamily="18" charset="0"/>
              </a:rPr>
              <a:t>-Komşu piksellerden herhangi biri siyah ya da beyaz piksel ise bir önceki etiket numarasına bu pikseli kaydet}</a:t>
            </a:r>
          </a:p>
          <a:p>
            <a:pPr marL="179705" algn="just">
              <a:lnSpc>
                <a:spcPct val="107000"/>
              </a:lnSpc>
              <a:spcAft>
                <a:spcPts val="800"/>
              </a:spcAft>
            </a:pPr>
            <a:r>
              <a:rPr lang="tr-TR" sz="4500" dirty="0">
                <a:effectLst/>
                <a:latin typeface="Calibri" panose="020F0502020204030204" pitchFamily="34" charset="0"/>
                <a:ea typeface="Calibri" panose="020F0502020204030204" pitchFamily="34" charset="0"/>
                <a:cs typeface="Times New Roman" panose="02020603050405020304" pitchFamily="18" charset="0"/>
              </a:rPr>
              <a:t>Bu işlem sayesinde her bir gözenek ayrı bir nesne olarak algılanıyor ve bu gözeneklere ait sayı, alan, yoğunluk yuvarlaklık, şekil faktörü gibi sayısal verilere ulaşmak kolay oluyor.</a:t>
            </a:r>
            <a:r>
              <a:rPr lang="tr-TR" sz="4500" b="1" dirty="0">
                <a:effectLst/>
                <a:latin typeface="Calibri" panose="020F0502020204030204" pitchFamily="34" charset="0"/>
                <a:ea typeface="Calibri" panose="020F0502020204030204" pitchFamily="34" charset="0"/>
                <a:cs typeface="Times New Roman" panose="02020603050405020304" pitchFamily="18" charset="0"/>
              </a:rPr>
              <a:t> </a:t>
            </a:r>
            <a:endParaRPr lang="tr-TR" sz="45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pic>
        <p:nvPicPr>
          <p:cNvPr id="5" name="Resim 4">
            <a:extLst>
              <a:ext uri="{FF2B5EF4-FFF2-40B4-BE49-F238E27FC236}">
                <a16:creationId xmlns:a16="http://schemas.microsoft.com/office/drawing/2014/main" id="{C2D2DB72-419B-60DA-CCFC-2034EB4F88C1}"/>
              </a:ext>
            </a:extLst>
          </p:cNvPr>
          <p:cNvPicPr>
            <a:picLocks noChangeAspect="1"/>
          </p:cNvPicPr>
          <p:nvPr/>
        </p:nvPicPr>
        <p:blipFill>
          <a:blip r:embed="rId2"/>
          <a:stretch>
            <a:fillRect/>
          </a:stretch>
        </p:blipFill>
        <p:spPr>
          <a:xfrm>
            <a:off x="6581007" y="4192626"/>
            <a:ext cx="3093988" cy="2545301"/>
          </a:xfrm>
          <a:prstGeom prst="rect">
            <a:avLst/>
          </a:prstGeom>
        </p:spPr>
      </p:pic>
    </p:spTree>
    <p:extLst>
      <p:ext uri="{BB962C8B-B14F-4D97-AF65-F5344CB8AC3E}">
        <p14:creationId xmlns:p14="http://schemas.microsoft.com/office/powerpoint/2010/main" val="2757686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9402B059-A47F-E93D-431F-3C419A9A681B}"/>
              </a:ext>
            </a:extLst>
          </p:cNvPr>
          <p:cNvSpPr>
            <a:spLocks noGrp="1"/>
          </p:cNvSpPr>
          <p:nvPr>
            <p:ph idx="1"/>
          </p:nvPr>
        </p:nvSpPr>
        <p:spPr>
          <a:xfrm>
            <a:off x="1019031" y="443345"/>
            <a:ext cx="8915400" cy="1588383"/>
          </a:xfrm>
        </p:spPr>
        <p:txBody>
          <a:bodyPr>
            <a:normAutofit/>
          </a:bodyPr>
          <a:lstStyle/>
          <a:p>
            <a:pPr marL="0" indent="0">
              <a:buNone/>
            </a:pPr>
            <a:r>
              <a:rPr lang="tr-TR" sz="2800" dirty="0"/>
              <a:t>7-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Gözeneklerin Büyüklüklerine Göre Sınıflandırılması</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Bu işlem sayesinde bağlı olan her piksel grubu birbiri ile eşleniyor ve aynı grupta olanlara bir renk değeri atanarak otomatik olarak renklendirilmesi yapılıyor. Ayrıca bu renkler farklı katkı maddeli ekmeklerde doku karşılaştırması yapmayı da kolay hale getiriyor.</a:t>
            </a:r>
          </a:p>
          <a:p>
            <a:endParaRPr lang="tr-TR" dirty="0"/>
          </a:p>
        </p:txBody>
      </p:sp>
      <p:pic>
        <p:nvPicPr>
          <p:cNvPr id="5" name="Resim 4">
            <a:extLst>
              <a:ext uri="{FF2B5EF4-FFF2-40B4-BE49-F238E27FC236}">
                <a16:creationId xmlns:a16="http://schemas.microsoft.com/office/drawing/2014/main" id="{83C89819-C765-6DAA-F5FA-F47A7FAC64BD}"/>
              </a:ext>
            </a:extLst>
          </p:cNvPr>
          <p:cNvPicPr>
            <a:picLocks noChangeAspect="1"/>
          </p:cNvPicPr>
          <p:nvPr/>
        </p:nvPicPr>
        <p:blipFill>
          <a:blip r:embed="rId2"/>
          <a:stretch>
            <a:fillRect/>
          </a:stretch>
        </p:blipFill>
        <p:spPr>
          <a:xfrm>
            <a:off x="3078230" y="2031728"/>
            <a:ext cx="3758107" cy="4382927"/>
          </a:xfrm>
          <a:prstGeom prst="rect">
            <a:avLst/>
          </a:prstGeom>
        </p:spPr>
      </p:pic>
    </p:spTree>
    <p:extLst>
      <p:ext uri="{BB962C8B-B14F-4D97-AF65-F5344CB8AC3E}">
        <p14:creationId xmlns:p14="http://schemas.microsoft.com/office/powerpoint/2010/main" val="1684082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çerik Yer Tutucusu 2">
            <a:extLst>
              <a:ext uri="{FF2B5EF4-FFF2-40B4-BE49-F238E27FC236}">
                <a16:creationId xmlns:a16="http://schemas.microsoft.com/office/drawing/2014/main" id="{E57B8DA7-B0A4-34E9-5C8C-9F94643937B4}"/>
              </a:ext>
            </a:extLst>
          </p:cNvPr>
          <p:cNvSpPr>
            <a:spLocks noGrp="1"/>
          </p:cNvSpPr>
          <p:nvPr>
            <p:ph idx="1"/>
          </p:nvPr>
        </p:nvSpPr>
        <p:spPr>
          <a:xfrm>
            <a:off x="963612" y="350982"/>
            <a:ext cx="8915400" cy="1801091"/>
          </a:xfrm>
        </p:spPr>
        <p:txBody>
          <a:bodyPr/>
          <a:lstStyle/>
          <a:p>
            <a:pPr marL="0" indent="0">
              <a:buNone/>
            </a:pPr>
            <a:r>
              <a:rPr lang="tr-TR" sz="2800" dirty="0"/>
              <a:t>8-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ZSI Başarım İndeksinin Belirlenmesi</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Bu aşamada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ImageJ</a:t>
            </a:r>
            <a:r>
              <a:rPr lang="tr-TR" sz="1800" dirty="0">
                <a:effectLst/>
                <a:latin typeface="Calibri" panose="020F0502020204030204" pitchFamily="34" charset="0"/>
                <a:ea typeface="Calibri" panose="020F0502020204030204" pitchFamily="34" charset="0"/>
                <a:cs typeface="Times New Roman" panose="02020603050405020304" pitchFamily="18" charset="0"/>
              </a:rPr>
              <a:t> programında bir uzman gıda mühendisi yardımıyla elle bölütlenmesi de yapılmış. Üzerinde çalışılan ekmek görüntülerinden, otomatik bölütleme sonucu elde edilen gözenekler ile elle bölütleme sonucu elde edilen gözenekler üst üste çakıştırılarak ZSI başarım indeksi belirlenmiş.</a:t>
            </a:r>
          </a:p>
          <a:p>
            <a:endParaRPr lang="tr-TR" dirty="0"/>
          </a:p>
        </p:txBody>
      </p:sp>
      <p:pic>
        <p:nvPicPr>
          <p:cNvPr id="8" name="Resim 7">
            <a:extLst>
              <a:ext uri="{FF2B5EF4-FFF2-40B4-BE49-F238E27FC236}">
                <a16:creationId xmlns:a16="http://schemas.microsoft.com/office/drawing/2014/main" id="{C285C9A4-28FB-876B-4126-38D61A340BC0}"/>
              </a:ext>
            </a:extLst>
          </p:cNvPr>
          <p:cNvPicPr>
            <a:picLocks noChangeAspect="1"/>
          </p:cNvPicPr>
          <p:nvPr/>
        </p:nvPicPr>
        <p:blipFill>
          <a:blip r:embed="rId2"/>
          <a:stretch>
            <a:fillRect/>
          </a:stretch>
        </p:blipFill>
        <p:spPr>
          <a:xfrm>
            <a:off x="1840519" y="2617250"/>
            <a:ext cx="3185974" cy="2619767"/>
          </a:xfrm>
          <a:prstGeom prst="rect">
            <a:avLst/>
          </a:prstGeom>
        </p:spPr>
      </p:pic>
      <p:pic>
        <p:nvPicPr>
          <p:cNvPr id="9" name="Resim 8">
            <a:extLst>
              <a:ext uri="{FF2B5EF4-FFF2-40B4-BE49-F238E27FC236}">
                <a16:creationId xmlns:a16="http://schemas.microsoft.com/office/drawing/2014/main" id="{711120F0-EF4E-3E1D-EB77-B3DE6F0A72A4}"/>
              </a:ext>
            </a:extLst>
          </p:cNvPr>
          <p:cNvPicPr>
            <a:picLocks noChangeAspect="1"/>
          </p:cNvPicPr>
          <p:nvPr/>
        </p:nvPicPr>
        <p:blipFill>
          <a:blip r:embed="rId3"/>
          <a:stretch>
            <a:fillRect/>
          </a:stretch>
        </p:blipFill>
        <p:spPr>
          <a:xfrm>
            <a:off x="6272853" y="1968473"/>
            <a:ext cx="2694286" cy="4764836"/>
          </a:xfrm>
          <a:prstGeom prst="rect">
            <a:avLst/>
          </a:prstGeom>
        </p:spPr>
      </p:pic>
    </p:spTree>
    <p:extLst>
      <p:ext uri="{BB962C8B-B14F-4D97-AF65-F5344CB8AC3E}">
        <p14:creationId xmlns:p14="http://schemas.microsoft.com/office/powerpoint/2010/main" val="2935455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B6FC93E1-8911-44A1-0E01-55715E5ECDF1}"/>
              </a:ext>
            </a:extLst>
          </p:cNvPr>
          <p:cNvSpPr>
            <a:spLocks noGrp="1"/>
          </p:cNvSpPr>
          <p:nvPr>
            <p:ph idx="1"/>
          </p:nvPr>
        </p:nvSpPr>
        <p:spPr>
          <a:xfrm>
            <a:off x="1009795" y="341745"/>
            <a:ext cx="8915400" cy="2650836"/>
          </a:xfrm>
        </p:spPr>
        <p:txBody>
          <a:bodyPr/>
          <a:lstStyle/>
          <a:p>
            <a:pPr marL="0" indent="0">
              <a:buNone/>
            </a:pPr>
            <a:r>
              <a:rPr lang="tr-TR" sz="2800" dirty="0"/>
              <a:t>9-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Geliştirilen Arayüz Programı</a:t>
            </a:r>
            <a:endParaRPr lang="tr-TR" sz="2800" dirty="0">
              <a:effectLst/>
              <a:latin typeface="Calibri" panose="020F0502020204030204" pitchFamily="34" charset="0"/>
              <a:ea typeface="Calibri" panose="020F0502020204030204" pitchFamily="34" charset="0"/>
              <a:cs typeface="Times New Roman" panose="02020603050405020304" pitchFamily="18" charset="0"/>
            </a:endParaRPr>
          </a:p>
          <a:p>
            <a:r>
              <a:rPr lang="tr-TR" sz="1800" dirty="0">
                <a:effectLst/>
                <a:latin typeface="Calibri" panose="020F0502020204030204" pitchFamily="34" charset="0"/>
                <a:ea typeface="Calibri" panose="020F0502020204030204" pitchFamily="34" charset="0"/>
                <a:cs typeface="Times New Roman" panose="02020603050405020304" pitchFamily="18" charset="0"/>
              </a:rPr>
              <a:t>Ayrıca çalışmada Matlab GUI arayüz programı kullanılarak, ekmek doku/gözenek bölütleme ve gözeneklere ait sayısal verilerin elde edilmesine yönelik bir ara yüz programı oluşturulmuş. Bu sayede hızlıca arayüz programına fotoğraf ekleyip sırasıyla ön işleme, gözenekleri bölütle ve sayısal verileri çıkar ikonları tıklanarak gözeneklere ait ölçümler ilgili dizine Excel dosyası olarak çıkartılabilmekte. Ayrıca oluşturulan yazılım ile bu alanda çalışan kimselerin farklı katkı maddelerinin ekmek kalitesi üzerindeki etkilerinin kolaylıkla incelenmesinin önü açılmış olmakta.</a:t>
            </a:r>
          </a:p>
          <a:p>
            <a:endParaRPr lang="tr-TR" dirty="0"/>
          </a:p>
        </p:txBody>
      </p:sp>
      <p:pic>
        <p:nvPicPr>
          <p:cNvPr id="5" name="Resim 4">
            <a:extLst>
              <a:ext uri="{FF2B5EF4-FFF2-40B4-BE49-F238E27FC236}">
                <a16:creationId xmlns:a16="http://schemas.microsoft.com/office/drawing/2014/main" id="{FDE95B8C-4105-56DA-2A6C-7D99D04E3CA1}"/>
              </a:ext>
            </a:extLst>
          </p:cNvPr>
          <p:cNvPicPr>
            <a:picLocks noChangeAspect="1"/>
          </p:cNvPicPr>
          <p:nvPr/>
        </p:nvPicPr>
        <p:blipFill>
          <a:blip r:embed="rId2"/>
          <a:stretch>
            <a:fillRect/>
          </a:stretch>
        </p:blipFill>
        <p:spPr>
          <a:xfrm>
            <a:off x="1468156" y="2992581"/>
            <a:ext cx="3721365" cy="3357418"/>
          </a:xfrm>
          <a:prstGeom prst="rect">
            <a:avLst/>
          </a:prstGeom>
        </p:spPr>
      </p:pic>
      <p:pic>
        <p:nvPicPr>
          <p:cNvPr id="6" name="Resim 5">
            <a:extLst>
              <a:ext uri="{FF2B5EF4-FFF2-40B4-BE49-F238E27FC236}">
                <a16:creationId xmlns:a16="http://schemas.microsoft.com/office/drawing/2014/main" id="{24C11662-C648-6882-245E-E1FAB0C11DE8}"/>
              </a:ext>
            </a:extLst>
          </p:cNvPr>
          <p:cNvPicPr>
            <a:picLocks noChangeAspect="1"/>
          </p:cNvPicPr>
          <p:nvPr/>
        </p:nvPicPr>
        <p:blipFill>
          <a:blip r:embed="rId3"/>
          <a:stretch>
            <a:fillRect/>
          </a:stretch>
        </p:blipFill>
        <p:spPr>
          <a:xfrm>
            <a:off x="5647882" y="2992581"/>
            <a:ext cx="3642613" cy="3219258"/>
          </a:xfrm>
          <a:prstGeom prst="rect">
            <a:avLst/>
          </a:prstGeom>
        </p:spPr>
      </p:pic>
    </p:spTree>
    <p:extLst>
      <p:ext uri="{BB962C8B-B14F-4D97-AF65-F5344CB8AC3E}">
        <p14:creationId xmlns:p14="http://schemas.microsoft.com/office/powerpoint/2010/main" val="486849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2">
            <a:extLst>
              <a:ext uri="{FF2B5EF4-FFF2-40B4-BE49-F238E27FC236}">
                <a16:creationId xmlns:a16="http://schemas.microsoft.com/office/drawing/2014/main" id="{0C6B46AB-A83E-565D-B7F2-98AECECC1E6F}"/>
              </a:ext>
            </a:extLst>
          </p:cNvPr>
          <p:cNvSpPr>
            <a:spLocks noGrp="1"/>
          </p:cNvSpPr>
          <p:nvPr>
            <p:ph idx="1"/>
          </p:nvPr>
        </p:nvSpPr>
        <p:spPr>
          <a:xfrm>
            <a:off x="1037504" y="452580"/>
            <a:ext cx="8915400" cy="4858277"/>
          </a:xfrm>
        </p:spPr>
        <p:txBody>
          <a:bodyPr>
            <a:normAutofit fontScale="92500" lnSpcReduction="20000"/>
          </a:bodyPr>
          <a:lstStyle/>
          <a:p>
            <a:pPr marL="0" indent="0">
              <a:buNone/>
            </a:pPr>
            <a:r>
              <a:rPr lang="tr-TR" sz="3000" b="1" dirty="0">
                <a:effectLst/>
                <a:latin typeface="Calibri" panose="020F0502020204030204" pitchFamily="34" charset="0"/>
                <a:ea typeface="Calibri" panose="020F0502020204030204" pitchFamily="34" charset="0"/>
                <a:cs typeface="Times New Roman" panose="02020603050405020304" pitchFamily="18" charset="0"/>
              </a:rPr>
              <a:t>Sonuç olarak;</a:t>
            </a:r>
          </a:p>
          <a:p>
            <a:pPr marL="179705" algn="just">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Bu çalışmada Gözenek sayısının %0,75’den sonra toplam gözenek alanının ise % 0,50’den sonra azaldığı görülmekte. Boşluk oranı ise DATEM katkılı ekmeklerde %31, %33 seviyelerinde iken FL ve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bu değer %28, %29 seviyelerinde olmakta.</a:t>
            </a:r>
          </a:p>
          <a:p>
            <a:pPr marL="179705" algn="just">
              <a:lnSpc>
                <a:spcPct val="107000"/>
              </a:lnSpc>
              <a:spcAft>
                <a:spcPts val="800"/>
              </a:spcAft>
            </a:pPr>
            <a:r>
              <a:rPr lang="tr-TR" sz="1800" dirty="0">
                <a:effectLst/>
                <a:latin typeface="Calibri" panose="020F0502020204030204" pitchFamily="34" charset="0"/>
                <a:ea typeface="Calibri" panose="020F0502020204030204" pitchFamily="34" charset="0"/>
                <a:cs typeface="Times New Roman" panose="02020603050405020304" pitchFamily="18" charset="0"/>
              </a:rPr>
              <a:t>Boşluk oranında meydana gelen değişim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değer %31,5 ile 33 arasındayken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FL’de</a:t>
            </a:r>
            <a:r>
              <a:rPr lang="tr-TR" sz="1800" dirty="0">
                <a:effectLst/>
                <a:latin typeface="Calibri" panose="020F0502020204030204" pitchFamily="34" charset="0"/>
                <a:ea typeface="Calibri" panose="020F0502020204030204" pitchFamily="34" charset="0"/>
                <a:cs typeface="Times New Roman" panose="02020603050405020304" pitchFamily="18" charset="0"/>
              </a:rPr>
              <a:t> bu değer %28-29 seviyelerinde olmakta.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DATEM’in</a:t>
            </a:r>
            <a:r>
              <a:rPr lang="tr-TR" sz="1800" dirty="0">
                <a:effectLst/>
                <a:latin typeface="Calibri" panose="020F0502020204030204" pitchFamily="34" charset="0"/>
                <a:ea typeface="Calibri" panose="020F0502020204030204" pitchFamily="34" charset="0"/>
                <a:cs typeface="Times New Roman" panose="02020603050405020304" pitchFamily="18" charset="0"/>
              </a:rPr>
              <a:t> %0,50 ve %0,75’li konsantrasyonlarında en fazla boşluk oranı elde edilmiş. FL için ise 30mg.kg-1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konstrasyonu</a:t>
            </a:r>
            <a:r>
              <a:rPr lang="tr-TR" sz="1800" dirty="0">
                <a:effectLst/>
                <a:latin typeface="Calibri" panose="020F0502020204030204" pitchFamily="34" charset="0"/>
                <a:ea typeface="Calibri" panose="020F0502020204030204" pitchFamily="34" charset="0"/>
                <a:cs typeface="Times New Roman" panose="02020603050405020304" pitchFamily="18" charset="0"/>
              </a:rPr>
              <a:t> ve yukarısında azalma olduğu görülmüş.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GL’nin</a:t>
            </a:r>
            <a:r>
              <a:rPr lang="tr-TR" sz="1800" dirty="0">
                <a:effectLst/>
                <a:latin typeface="Calibri" panose="020F0502020204030204" pitchFamily="34" charset="0"/>
                <a:ea typeface="Calibri" panose="020F0502020204030204" pitchFamily="34" charset="0"/>
                <a:cs typeface="Times New Roman" panose="02020603050405020304" pitchFamily="18" charset="0"/>
              </a:rPr>
              <a:t> ise boşluk oranı üzerinde ciddi bir etkisi olmadığı görülmüş.</a:t>
            </a:r>
          </a:p>
          <a:p>
            <a:pPr marL="179705" algn="just">
              <a:lnSpc>
                <a:spcPct val="107000"/>
              </a:lnSpc>
              <a:spcAft>
                <a:spcPts val="800"/>
              </a:spcAft>
            </a:pP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DATEM’li</a:t>
            </a:r>
            <a:r>
              <a:rPr lang="tr-TR" sz="1800" dirty="0">
                <a:effectLst/>
                <a:latin typeface="Calibri" panose="020F0502020204030204" pitchFamily="34" charset="0"/>
                <a:ea typeface="Calibri" panose="020F0502020204030204" pitchFamily="34" charset="0"/>
                <a:cs typeface="Times New Roman" panose="02020603050405020304" pitchFamily="18" charset="0"/>
              </a:rPr>
              <a:t> ekmeklerde yoğunluk 90-95/cm2 seviyelerinde iken kontrol ve lipazlarda bu değer 84-85/cm2 civarında olmakta. Elde edilen sonuçlar doğrultusunda, fosfolipaz ve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glikolipazın</a:t>
            </a:r>
            <a:r>
              <a:rPr lang="tr-TR" sz="1800" dirty="0">
                <a:effectLst/>
                <a:latin typeface="Calibri" panose="020F0502020204030204" pitchFamily="34" charset="0"/>
                <a:ea typeface="Calibri" panose="020F0502020204030204" pitchFamily="34" charset="0"/>
                <a:cs typeface="Times New Roman" panose="02020603050405020304" pitchFamily="18" charset="0"/>
              </a:rPr>
              <a:t> hamurun reolojik özelliklerini konsantrasyon miktarına bağlı olarak </a:t>
            </a:r>
            <a:r>
              <a:rPr lang="tr-TR" sz="1800" dirty="0" err="1">
                <a:effectLst/>
                <a:latin typeface="Calibri" panose="020F0502020204030204" pitchFamily="34" charset="0"/>
                <a:ea typeface="Calibri" panose="020F0502020204030204" pitchFamily="34" charset="0"/>
                <a:cs typeface="Times New Roman" panose="02020603050405020304" pitchFamily="18" charset="0"/>
              </a:rPr>
              <a:t>DATEM’e</a:t>
            </a:r>
            <a:r>
              <a:rPr lang="tr-TR" sz="1800" dirty="0">
                <a:effectLst/>
                <a:latin typeface="Calibri" panose="020F0502020204030204" pitchFamily="34" charset="0"/>
                <a:ea typeface="Calibri" panose="020F0502020204030204" pitchFamily="34" charset="0"/>
                <a:cs typeface="Times New Roman" panose="02020603050405020304" pitchFamily="18" charset="0"/>
              </a:rPr>
              <a:t> benzer şekilde olumlu yönde geliştirdiği görülmüş. Fakat yüksek konsantrasyonlarda olumsuz etkisinin olabileceği de saptanmış.</a:t>
            </a:r>
          </a:p>
          <a:p>
            <a:pPr marL="179705" algn="just">
              <a:lnSpc>
                <a:spcPct val="107000"/>
              </a:lnSpc>
              <a:spcAft>
                <a:spcPts val="800"/>
              </a:spcAft>
            </a:pPr>
            <a:r>
              <a:rPr lang="tr-TR" sz="1800" b="1" dirty="0">
                <a:effectLst/>
                <a:latin typeface="Calibri" panose="020F0502020204030204" pitchFamily="34" charset="0"/>
                <a:ea typeface="Calibri" panose="020F0502020204030204" pitchFamily="34" charset="0"/>
                <a:cs typeface="Times New Roman" panose="02020603050405020304" pitchFamily="18" charset="0"/>
              </a:rPr>
              <a:t>Elde edilen sonuçlar FL ve GL lipaz enzimlerinin DATEM kadar olmasa da ekmek hacmine olumlu etki yaptığını göstermiştir.</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Tree>
    <p:extLst>
      <p:ext uri="{BB962C8B-B14F-4D97-AF65-F5344CB8AC3E}">
        <p14:creationId xmlns:p14="http://schemas.microsoft.com/office/powerpoint/2010/main" val="263695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5CFE808D-BC6E-254F-3695-DF752BD55D9B}"/>
              </a:ext>
            </a:extLst>
          </p:cNvPr>
          <p:cNvPicPr>
            <a:picLocks noChangeAspect="1"/>
          </p:cNvPicPr>
          <p:nvPr/>
        </p:nvPicPr>
        <p:blipFill>
          <a:blip r:embed="rId2"/>
          <a:stretch>
            <a:fillRect/>
          </a:stretch>
        </p:blipFill>
        <p:spPr>
          <a:xfrm>
            <a:off x="548952" y="1274263"/>
            <a:ext cx="3422480" cy="2983701"/>
          </a:xfrm>
          <a:prstGeom prst="rect">
            <a:avLst/>
          </a:prstGeom>
        </p:spPr>
      </p:pic>
      <p:pic>
        <p:nvPicPr>
          <p:cNvPr id="7" name="Resim 6">
            <a:extLst>
              <a:ext uri="{FF2B5EF4-FFF2-40B4-BE49-F238E27FC236}">
                <a16:creationId xmlns:a16="http://schemas.microsoft.com/office/drawing/2014/main" id="{016A4CB2-3C42-8D8F-2ACE-77154324D39A}"/>
              </a:ext>
            </a:extLst>
          </p:cNvPr>
          <p:cNvPicPr>
            <a:picLocks noChangeAspect="1"/>
          </p:cNvPicPr>
          <p:nvPr/>
        </p:nvPicPr>
        <p:blipFill>
          <a:blip r:embed="rId3"/>
          <a:stretch>
            <a:fillRect/>
          </a:stretch>
        </p:blipFill>
        <p:spPr>
          <a:xfrm>
            <a:off x="3971432" y="1191136"/>
            <a:ext cx="3637781" cy="3066828"/>
          </a:xfrm>
          <a:prstGeom prst="rect">
            <a:avLst/>
          </a:prstGeom>
        </p:spPr>
      </p:pic>
      <p:pic>
        <p:nvPicPr>
          <p:cNvPr id="9" name="Resim 8">
            <a:extLst>
              <a:ext uri="{FF2B5EF4-FFF2-40B4-BE49-F238E27FC236}">
                <a16:creationId xmlns:a16="http://schemas.microsoft.com/office/drawing/2014/main" id="{A5AA2CDB-35BE-5ABF-C74A-3046C01A43ED}"/>
              </a:ext>
            </a:extLst>
          </p:cNvPr>
          <p:cNvPicPr>
            <a:picLocks noChangeAspect="1"/>
          </p:cNvPicPr>
          <p:nvPr/>
        </p:nvPicPr>
        <p:blipFill>
          <a:blip r:embed="rId4"/>
          <a:stretch>
            <a:fillRect/>
          </a:stretch>
        </p:blipFill>
        <p:spPr>
          <a:xfrm>
            <a:off x="7370246" y="1274262"/>
            <a:ext cx="3547113" cy="2983701"/>
          </a:xfrm>
          <a:prstGeom prst="rect">
            <a:avLst/>
          </a:prstGeom>
        </p:spPr>
      </p:pic>
    </p:spTree>
    <p:extLst>
      <p:ext uri="{BB962C8B-B14F-4D97-AF65-F5344CB8AC3E}">
        <p14:creationId xmlns:p14="http://schemas.microsoft.com/office/powerpoint/2010/main" val="1258151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228E8944-0C8E-D96B-2A3F-79F3B6A05D70}"/>
              </a:ext>
            </a:extLst>
          </p:cNvPr>
          <p:cNvSpPr>
            <a:spLocks noGrp="1"/>
          </p:cNvSpPr>
          <p:nvPr>
            <p:ph idx="1"/>
          </p:nvPr>
        </p:nvSpPr>
        <p:spPr>
          <a:xfrm>
            <a:off x="1092921" y="1126836"/>
            <a:ext cx="8915400" cy="3777622"/>
          </a:xfrm>
        </p:spPr>
        <p:txBody>
          <a:bodyPr/>
          <a:lstStyle/>
          <a:p>
            <a:pPr marL="0" indent="0">
              <a:buNone/>
            </a:pPr>
            <a:r>
              <a:rPr lang="tr-TR" sz="2800" b="1" dirty="0"/>
              <a:t>KAYNAKÇA</a:t>
            </a:r>
          </a:p>
          <a:p>
            <a:r>
              <a:rPr lang="tr-TR" dirty="0"/>
              <a:t>https://dergipark.org.tr/en/pub/gazimmfd/article/406777</a:t>
            </a:r>
          </a:p>
        </p:txBody>
      </p:sp>
    </p:spTree>
    <p:extLst>
      <p:ext uri="{BB962C8B-B14F-4D97-AF65-F5344CB8AC3E}">
        <p14:creationId xmlns:p14="http://schemas.microsoft.com/office/powerpoint/2010/main" val="2005947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30068DE7-E992-4C44-B22F-B71386AE8386}"/>
              </a:ext>
            </a:extLst>
          </p:cNvPr>
          <p:cNvSpPr>
            <a:spLocks noGrp="1"/>
          </p:cNvSpPr>
          <p:nvPr>
            <p:ph idx="1"/>
          </p:nvPr>
        </p:nvSpPr>
        <p:spPr>
          <a:xfrm>
            <a:off x="1074449" y="1540189"/>
            <a:ext cx="8915400" cy="3777622"/>
          </a:xfrm>
        </p:spPr>
        <p:txBody>
          <a:bodyPr>
            <a:normAutofit/>
          </a:bodyPr>
          <a:lstStyle/>
          <a:p>
            <a:r>
              <a:rPr lang="tr-TR" sz="2800" b="1" dirty="0"/>
              <a:t>DİNLEDİĞİNİZ İÇİN TEŞEKKÜR EDERİM </a:t>
            </a:r>
          </a:p>
        </p:txBody>
      </p:sp>
    </p:spTree>
    <p:extLst>
      <p:ext uri="{BB962C8B-B14F-4D97-AF65-F5344CB8AC3E}">
        <p14:creationId xmlns:p14="http://schemas.microsoft.com/office/powerpoint/2010/main" val="741980580"/>
      </p:ext>
    </p:extLst>
  </p:cSld>
  <p:clrMapOvr>
    <a:masterClrMapping/>
  </p:clrMapOvr>
</p:sld>
</file>

<file path=ppt/theme/theme1.xml><?xml version="1.0" encoding="utf-8"?>
<a:theme xmlns:a="http://schemas.openxmlformats.org/drawingml/2006/main" name="Manzara">
  <a:themeElements>
    <a:clrScheme name="Manzar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Manzar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nzar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TM03457515[[fn=Manzara]]</Template>
  <TotalTime>38</TotalTime>
  <Words>1062</Words>
  <Application>Microsoft Office PowerPoint</Application>
  <PresentationFormat>Geniş ekran</PresentationFormat>
  <Paragraphs>40</Paragraphs>
  <Slides>16</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16</vt:i4>
      </vt:variant>
    </vt:vector>
  </HeadingPairs>
  <TitlesOfParts>
    <vt:vector size="22" baseType="lpstr">
      <vt:lpstr>Arial</vt:lpstr>
      <vt:lpstr>Calibri</vt:lpstr>
      <vt:lpstr>Century Schoolbook</vt:lpstr>
      <vt:lpstr>Franklin Gothic Demi Cond</vt:lpstr>
      <vt:lpstr>Wingdings 2</vt:lpstr>
      <vt:lpstr>Manzara</vt:lpstr>
      <vt:lpstr>GÖRÜNTÜ İŞLEME TEKNİKLERİ KULLANILARAK EKMEK DOKU ANALİZİ VE ARAYÜZ PROGRAMININ GELİŞTİRİLMESİ </vt:lpstr>
      <vt:lpstr>PowerPoint Sunusu</vt:lpstr>
      <vt:lpstr>DENEYSEL METOT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 KULLANILARAK EKMEK DOKU ANALİZİ VE ARAYÜZ PROGRAMININ GELİŞTİRİLMESİ </dc:title>
  <dc:creator>Senanur paksoy</dc:creator>
  <cp:lastModifiedBy>Senanur paksoy</cp:lastModifiedBy>
  <cp:revision>1</cp:revision>
  <dcterms:created xsi:type="dcterms:W3CDTF">2022-11-08T16:29:36Z</dcterms:created>
  <dcterms:modified xsi:type="dcterms:W3CDTF">2022-11-08T17:08:13Z</dcterms:modified>
</cp:coreProperties>
</file>